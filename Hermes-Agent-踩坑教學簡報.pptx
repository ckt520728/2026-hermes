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7" r:id="rId27"/>
    <p:sldId id="275" r:id="rId25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2301CC-5D53-4068-9DEA-ACA0CB921BCC}">
  <a:tblStyle styleId="{942301CC-5D53-4068-9DEA-ACA0CB921BC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1.xml"/><Relationship Id="rId26" Type="http://schemas.openxmlformats.org/officeDocument/2006/relationships/slide" Target="slides/slide21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6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40080" y="841248"/>
            <a:ext cx="109728" cy="109728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859536" y="713232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NOUS RESEARCH · HERMES AGENT v0.14.0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640080" y="1828800"/>
            <a:ext cx="10972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5000"/>
              <a:buFont typeface="Microsoft JhengHei"/>
              <a:buNone/>
            </a:pPr>
            <a:r>
              <a:rPr b="1" i="0" lang="en-US" sz="50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 Windows 上馴服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5000"/>
              <a:buFont typeface="Microsoft JhengHei"/>
              <a:buNone/>
            </a:pPr>
            <a:r>
              <a:rPr b="1" i="0" lang="en-US" sz="50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一隻 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4D6BE"/>
              </a:buClr>
              <a:buSzPts val="5000"/>
              <a:buFont typeface="Microsoft JhengHei"/>
              <a:buNone/>
            </a:pPr>
            <a:r>
              <a:rPr b="1" i="0" lang="en-US" sz="5000" u="none" cap="none" strike="noStrike">
                <a:solidFill>
                  <a:srgbClr val="34D6B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AI Agent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640080" y="406908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800"/>
              <a:buFont typeface="Microsoft JhengHei"/>
              <a:buNone/>
            </a:pPr>
            <a:r>
              <a:rPr b="0" i="0" lang="en-US" sz="18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從零安裝、接通 Telegram、設定每日自動文獻推播——一份踩過 20 個坑換來的實戰教學。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40080" y="5212080"/>
            <a:ext cx="2240280" cy="457200"/>
          </a:xfrm>
          <a:prstGeom prst="roundRect">
            <a:avLst>
              <a:gd fmla="val 20000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40080" y="521208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AA6B2"/>
                </a:solidFill>
                <a:latin typeface="Consolas"/>
                <a:ea typeface="Consolas"/>
                <a:cs typeface="Consolas"/>
                <a:sym typeface="Consolas"/>
              </a:rPr>
              <a:t>OS · Windows 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3063240" y="5212080"/>
            <a:ext cx="3547872" cy="457200"/>
          </a:xfrm>
          <a:prstGeom prst="roundRect">
            <a:avLst>
              <a:gd fmla="val 20000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3063240" y="5212080"/>
            <a:ext cx="35478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AA6B2"/>
                </a:solidFill>
                <a:latin typeface="Consolas"/>
                <a:ea typeface="Consolas"/>
                <a:cs typeface="Consolas"/>
                <a:sym typeface="Consolas"/>
              </a:rPr>
              <a:t>Model · Gemini 3 Flash（免費）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6793992" y="5212080"/>
            <a:ext cx="2121408" cy="457200"/>
          </a:xfrm>
          <a:prstGeom prst="roundRect">
            <a:avLst>
              <a:gd fmla="val 20000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6793992" y="5212080"/>
            <a:ext cx="21214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AA6B2"/>
                </a:solidFill>
                <a:latin typeface="Consolas"/>
                <a:ea typeface="Consolas"/>
                <a:cs typeface="Consolas"/>
                <a:sym typeface="Consolas"/>
              </a:rPr>
              <a:t>Bot · Telegram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9098280" y="5212080"/>
            <a:ext cx="1645920" cy="457200"/>
          </a:xfrm>
          <a:prstGeom prst="roundRect">
            <a:avLst>
              <a:gd fmla="val 20000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9098280" y="521208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AA6B2"/>
                </a:solidFill>
                <a:latin typeface="Consolas"/>
                <a:ea typeface="Consolas"/>
                <a:cs typeface="Consolas"/>
                <a:sym typeface="Consolas"/>
              </a:rPr>
              <a:t>2026-05-26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0" y="6812280"/>
            <a:ext cx="609585" cy="45720"/>
          </a:xfrm>
          <a:prstGeom prst="rect">
            <a:avLst/>
          </a:prstGeom>
          <a:solidFill>
            <a:srgbClr val="34D6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10607040" y="641908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1 / 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6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640080" y="585216"/>
            <a:ext cx="91440" cy="91440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822960" y="457200"/>
            <a:ext cx="10058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引言 · INTRODUCTION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640080" y="914400"/>
            <a:ext cx="10972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3200"/>
              <a:buFont typeface="Microsoft JhengHei"/>
              <a:buNone/>
            </a:pPr>
            <a:r>
              <a:rPr b="1" i="0" lang="en-US" sz="32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Harness ＝ AI 的</a:t>
            </a:r>
            <a:r>
              <a:rPr b="1" i="0" lang="en-US" sz="3200" u="none" cap="none" strike="noStrike">
                <a:solidFill>
                  <a:srgbClr val="34D6B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作業系統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640080" y="178308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500"/>
              <a:buFont typeface="Microsoft JhengHei"/>
              <a:buNone/>
            </a:pPr>
            <a:r>
              <a:rPr b="0" i="0" lang="en-US" sz="15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2026 的範式轉移：模型被商品化，勝負移到「包在模型外面那層」。一句話——</a:t>
            </a:r>
            <a:r>
              <a:rPr b="1" i="0" lang="en-US" sz="1500" u="none" cap="none" strike="noStrike">
                <a:solidFill>
                  <a:srgbClr val="FFB45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Agent ＝ Model ＋ Harness</a:t>
            </a:r>
            <a:r>
              <a:rPr b="0" i="0" lang="en-US" sz="15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40080" y="2514600"/>
            <a:ext cx="5486400" cy="786384"/>
          </a:xfrm>
          <a:prstGeom prst="roundRect">
            <a:avLst>
              <a:gd fmla="val 8140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877824" y="2633472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4117"/>
              </a:lnSpc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1700"/>
              <a:buFont typeface="Microsoft JhengHei"/>
              <a:buNone/>
            </a:pPr>
            <a:r>
              <a:rPr b="1" i="0" lang="en-US" sz="17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Agent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100"/>
              <a:buFont typeface="Microsoft JhengHei"/>
              <a:buNone/>
            </a:pPr>
            <a:r>
              <a:rPr b="0" i="0" lang="en-US" sz="11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跑在上面的具體應用，例如 Hermes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074920" y="2697480"/>
            <a:ext cx="841248" cy="420624"/>
          </a:xfrm>
          <a:prstGeom prst="roundRect">
            <a:avLst>
              <a:gd fmla="val 13043" name="adj"/>
            </a:avLst>
          </a:prstGeom>
          <a:noFill/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5074920" y="2697480"/>
            <a:ext cx="84124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40080" y="3429000"/>
            <a:ext cx="5486400" cy="786384"/>
          </a:xfrm>
          <a:prstGeom prst="roundRect">
            <a:avLst>
              <a:gd fmla="val 8140" name="adj"/>
            </a:avLst>
          </a:prstGeom>
          <a:solidFill>
            <a:srgbClr val="241E14"/>
          </a:solidFill>
          <a:ln cap="flat" cmpd="sng" w="19050">
            <a:solidFill>
              <a:srgbClr val="7A5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877824" y="3547872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4117"/>
              </a:lnSpc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1700"/>
              <a:buFont typeface="Microsoft JhengHei"/>
              <a:buNone/>
            </a:pPr>
            <a:r>
              <a:rPr b="1" i="0" lang="en-US" sz="17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Harness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100"/>
              <a:buFont typeface="Microsoft JhengHei"/>
              <a:buNone/>
            </a:pPr>
            <a:r>
              <a:rPr b="0" i="0" lang="en-US" sz="11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工具驅動 · 記憶 · 排程 · 安全 · 容錯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5074920" y="3611880"/>
            <a:ext cx="841248" cy="420624"/>
          </a:xfrm>
          <a:prstGeom prst="roundRect">
            <a:avLst>
              <a:gd fmla="val 13043" name="adj"/>
            </a:avLst>
          </a:prstGeom>
          <a:noFill/>
          <a:ln cap="flat" cmpd="sng" w="12700">
            <a:solidFill>
              <a:srgbClr val="7A5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5074920" y="3611880"/>
            <a:ext cx="84124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454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FB454"/>
                </a:solidFill>
                <a:latin typeface="Consolas"/>
                <a:ea typeface="Consolas"/>
                <a:cs typeface="Consolas"/>
                <a:sym typeface="Consolas"/>
              </a:rPr>
              <a:t>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640080" y="4343400"/>
            <a:ext cx="5486400" cy="786384"/>
          </a:xfrm>
          <a:prstGeom prst="roundRect">
            <a:avLst>
              <a:gd fmla="val 8140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877824" y="4462272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4117"/>
              </a:lnSpc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1700"/>
              <a:buFont typeface="Microsoft JhengHei"/>
              <a:buNone/>
            </a:pPr>
            <a:r>
              <a:rPr b="1" i="0" lang="en-US" sz="17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Context Window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100"/>
              <a:buFont typeface="Microsoft JhengHei"/>
              <a:buNone/>
            </a:pPr>
            <a:r>
              <a:rPr b="0" i="0" lang="en-US" sz="11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有限的工作記憶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5074920" y="4526280"/>
            <a:ext cx="841248" cy="420624"/>
          </a:xfrm>
          <a:prstGeom prst="roundRect">
            <a:avLst>
              <a:gd fmla="val 13043" name="adj"/>
            </a:avLst>
          </a:prstGeom>
          <a:noFill/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5074920" y="4526280"/>
            <a:ext cx="84124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RAM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640080" y="5257800"/>
            <a:ext cx="5486400" cy="786384"/>
          </a:xfrm>
          <a:prstGeom prst="roundRect">
            <a:avLst>
              <a:gd fmla="val 8140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877824" y="5376672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4117"/>
              </a:lnSpc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1700"/>
              <a:buFont typeface="Microsoft JhengHei"/>
              <a:buNone/>
            </a:pPr>
            <a:r>
              <a:rPr b="1" i="0" lang="en-US" sz="17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Model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100"/>
              <a:buFont typeface="Microsoft JhengHei"/>
              <a:buNone/>
            </a:pPr>
            <a:r>
              <a:rPr b="0" i="0" lang="en-US" sz="11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原始推理力（凍結的計算器）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074920" y="5440680"/>
            <a:ext cx="841248" cy="420624"/>
          </a:xfrm>
          <a:prstGeom prst="roundRect">
            <a:avLst>
              <a:gd fmla="val 13043" name="adj"/>
            </a:avLst>
          </a:prstGeom>
          <a:noFill/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5074920" y="5440680"/>
            <a:ext cx="84124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CPU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6400800" y="2514600"/>
            <a:ext cx="5148072" cy="3383280"/>
          </a:xfrm>
          <a:prstGeom prst="roundRect">
            <a:avLst>
              <a:gd fmla="val 2162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6656832" y="2697480"/>
            <a:ext cx="46360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1700"/>
              <a:buFont typeface="Microsoft JhengHei"/>
              <a:buNone/>
            </a:pPr>
            <a:r>
              <a:rPr b="1" i="0" lang="en-US" sz="17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這個「OS」在管什麼？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6656832" y="3291840"/>
            <a:ext cx="987552" cy="402336"/>
          </a:xfrm>
          <a:prstGeom prst="roundRect">
            <a:avLst>
              <a:gd fmla="val 50000" name="adj"/>
            </a:avLst>
          </a:prstGeom>
          <a:solidFill>
            <a:srgbClr val="1C232C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6656832" y="3291840"/>
            <a:ext cx="98755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200"/>
              <a:buFont typeface="Microsoft JhengHei"/>
              <a:buNone/>
            </a:pPr>
            <a:r>
              <a:rPr b="0" i="0" lang="en-US" sz="12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工具調度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7772400" y="3291840"/>
            <a:ext cx="1152144" cy="402336"/>
          </a:xfrm>
          <a:prstGeom prst="roundRect">
            <a:avLst>
              <a:gd fmla="val 50000" name="adj"/>
            </a:avLst>
          </a:prstGeom>
          <a:solidFill>
            <a:srgbClr val="1C232C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7772400" y="3291840"/>
            <a:ext cx="115214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200"/>
              <a:buFont typeface="Microsoft JhengHei"/>
              <a:buNone/>
            </a:pPr>
            <a:r>
              <a:rPr b="0" i="0" lang="en-US" sz="12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記憶持久化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9052560" y="3291840"/>
            <a:ext cx="1481328" cy="402336"/>
          </a:xfrm>
          <a:prstGeom prst="roundRect">
            <a:avLst>
              <a:gd fmla="val 50000" name="adj"/>
            </a:avLst>
          </a:prstGeom>
          <a:solidFill>
            <a:srgbClr val="1C232C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9052560" y="3291840"/>
            <a:ext cx="14813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200"/>
              <a:buFont typeface="Microsoft JhengHei"/>
              <a:buNone/>
            </a:pPr>
            <a:r>
              <a:rPr b="0" i="0" lang="en-US" sz="12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安全/人類審核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6656832" y="3794760"/>
            <a:ext cx="987552" cy="402336"/>
          </a:xfrm>
          <a:prstGeom prst="roundRect">
            <a:avLst>
              <a:gd fmla="val 50000" name="adj"/>
            </a:avLst>
          </a:prstGeom>
          <a:solidFill>
            <a:srgbClr val="1C232C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6656832" y="3794760"/>
            <a:ext cx="98755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200"/>
              <a:buFont typeface="Microsoft JhengHei"/>
              <a:buNone/>
            </a:pPr>
            <a:r>
              <a:rPr b="0" i="0" lang="en-US" sz="12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多步編排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7772400" y="3794760"/>
            <a:ext cx="822960" cy="402336"/>
          </a:xfrm>
          <a:prstGeom prst="roundRect">
            <a:avLst>
              <a:gd fmla="val 50000" name="adj"/>
            </a:avLst>
          </a:prstGeom>
          <a:solidFill>
            <a:srgbClr val="1C232C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7772400" y="3794760"/>
            <a:ext cx="822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200"/>
              <a:buFont typeface="Microsoft JhengHei"/>
              <a:buNone/>
            </a:pPr>
            <a:r>
              <a:rPr b="0" i="0" lang="en-US" sz="12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子代理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8723376" y="3794760"/>
            <a:ext cx="987552" cy="402336"/>
          </a:xfrm>
          <a:prstGeom prst="roundRect">
            <a:avLst>
              <a:gd fmla="val 50000" name="adj"/>
            </a:avLst>
          </a:prstGeom>
          <a:solidFill>
            <a:srgbClr val="1C232C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8723376" y="3794760"/>
            <a:ext cx="98755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200"/>
              <a:buFont typeface="Microsoft JhengHei"/>
              <a:buNone/>
            </a:pPr>
            <a:r>
              <a:rPr b="0" i="0" lang="en-US" sz="12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容錯降級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6656832" y="4434840"/>
            <a:ext cx="463600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350"/>
              <a:buFont typeface="Microsoft JhengHei"/>
              <a:buNone/>
            </a:pPr>
            <a:r>
              <a:rPr b="0" i="0" lang="en-US" sz="135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模型負責「推理」，harness 負責「讓推理變成</a:t>
            </a:r>
            <a:r>
              <a:rPr b="1" i="0" lang="en-US" sz="135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可靠、可重複</a:t>
            </a:r>
            <a:r>
              <a:rPr b="0" i="0" lang="en-US" sz="135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的行動」。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34D6BE"/>
              </a:buClr>
              <a:buSzPts val="1350"/>
              <a:buFont typeface="Microsoft JhengHei"/>
              <a:buNone/>
            </a:pPr>
            <a:r>
              <a:rPr b="0" i="0" lang="en-US" sz="1350" u="none" cap="none" strike="noStrike">
                <a:solidFill>
                  <a:srgbClr val="34D6B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模型再聰明，沒有好的 OS，也跑不出可靠的 agent。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640080" y="61722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＊ 概念來源：OpenAI Codex「harness engineering」、Philipp Schmid 電腦類比（2026）。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0" y="6812280"/>
            <a:ext cx="1219170" cy="45720"/>
          </a:xfrm>
          <a:prstGeom prst="rect">
            <a:avLst/>
          </a:prstGeom>
          <a:solidFill>
            <a:srgbClr val="34D6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10607040" y="641908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2 / 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6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/>
          <p:nvPr/>
        </p:nvSpPr>
        <p:spPr>
          <a:xfrm>
            <a:off x="640080" y="585216"/>
            <a:ext cx="91440" cy="91440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822960" y="457200"/>
            <a:ext cx="10058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引言 · 定位 HERMES 在哪一層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640080" y="914400"/>
            <a:ext cx="10972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4D6BE"/>
              </a:buClr>
              <a:buSzPts val="3200"/>
              <a:buFont typeface="Microsoft JhengHei"/>
              <a:buNone/>
            </a:pPr>
            <a:r>
              <a:rPr b="1" i="0" lang="en-US" sz="3200" u="none" cap="none" strike="noStrike">
                <a:solidFill>
                  <a:srgbClr val="34D6B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Harness AI</a:t>
            </a:r>
            <a:r>
              <a:rPr b="1" i="0" lang="en-US" sz="3200" u="none" cap="none" strike="noStrike">
                <a:solidFill>
                  <a:srgbClr val="5E69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vs  </a:t>
            </a:r>
            <a:r>
              <a:rPr b="1" i="0" lang="en-US" sz="3200" u="none" cap="none" strike="noStrike">
                <a:solidFill>
                  <a:srgbClr val="FFB45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Hermes Agent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3" name="Google Shape;83;p5"/>
          <p:cNvGraphicFramePr/>
          <p:nvPr/>
        </p:nvGraphicFramePr>
        <p:xfrm>
          <a:off x="64008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{942301CC-5D53-4068-9DEA-ACA0CB921BCC}</a:tableStyleId>
              </a:tblPr>
              <a:tblGrid>
                <a:gridCol w="1828800"/>
                <a:gridCol w="4544575"/>
                <a:gridCol w="4535425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6975"/>
                        </a:buClr>
                        <a:buSzPts val="1100"/>
                        <a:buFont typeface="Consola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5E69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維度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3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6975"/>
                        </a:buClr>
                        <a:buSzPts val="1100"/>
                        <a:buFont typeface="Consola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5E69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Harness AI（範式 / OS 層）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3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6975"/>
                        </a:buClr>
                        <a:buSzPts val="1100"/>
                        <a:buFont typeface="Consola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5E69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Hermes Agent（成品 / App）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32C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6975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en-US" sz="1300" u="none" cap="none" strike="noStrike">
                          <a:solidFill>
                            <a:srgbClr val="5E6975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是什麼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A6B2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en-US" sz="1300" u="none" cap="none" strike="noStrike">
                          <a:solidFill>
                            <a:srgbClr val="9AA6B2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包在模型外的「作業系統」層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A6B2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en-US" sz="1300" u="none" cap="none" strike="noStrike">
                          <a:solidFill>
                            <a:srgbClr val="9AA6B2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已內建 harness 的個人 agent（Nous Research）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A21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6975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en-US" sz="1300" u="none" cap="none" strike="noStrike">
                          <a:solidFill>
                            <a:srgbClr val="5E6975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所在層級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A6B2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en-US" sz="1300" u="none" cap="none" strike="noStrike">
                          <a:solidFill>
                            <a:srgbClr val="9AA6B2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基礎設施層（OS）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A6B2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en-US" sz="1300" u="none" cap="none" strike="noStrike">
                          <a:solidFill>
                            <a:srgbClr val="9AA6B2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應用層（App，跑在 harness 上）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A21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6975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en-US" sz="1300" u="none" cap="none" strike="noStrike">
                          <a:solidFill>
                            <a:srgbClr val="5E6975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你要做的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A6B2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en-US" sz="1300" u="none" cap="none" strike="noStrike">
                          <a:solidFill>
                            <a:srgbClr val="9AA6B2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自己工程化／配置 harness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A6B2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en-US" sz="1300" u="none" cap="none" strike="noStrike">
                          <a:solidFill>
                            <a:srgbClr val="9AA6B2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裝好後用「</a:t>
                      </a:r>
                      <a:r>
                        <a:rPr b="1" lang="en-US" sz="1300" u="none" cap="none" strike="noStrike">
                          <a:solidFill>
                            <a:srgbClr val="34D6BE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講的</a:t>
                      </a:r>
                      <a:r>
                        <a:rPr lang="en-US" sz="1300" u="none" cap="none" strike="noStrike">
                          <a:solidFill>
                            <a:srgbClr val="9AA6B2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」操作（Telegram／CLI）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A21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6975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en-US" sz="1300" u="none" cap="none" strike="noStrike">
                          <a:solidFill>
                            <a:srgbClr val="5E6975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代表例子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FB3FF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6FB3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Claude Code</a:t>
                      </a:r>
                      <a:r>
                        <a:rPr lang="en-US" sz="1300" u="none" cap="none" strike="noStrike">
                          <a:solidFill>
                            <a:srgbClr val="9AA6B2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、Agent SDK、Codex harness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FB3FF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6FB3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Hermes Agent v0.14.0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A21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6975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en-US" sz="1300" u="none" cap="none" strike="noStrike">
                          <a:solidFill>
                            <a:srgbClr val="5E6975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適合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A6B2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en-US" sz="1300" u="none" cap="none" strike="noStrike">
                          <a:solidFill>
                            <a:srgbClr val="9AA6B2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企業／生產級、要客製可控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A6B2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en-US" sz="1300" u="none" cap="none" strike="noStrike">
                          <a:solidFill>
                            <a:srgbClr val="9AA6B2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個人知識工作、開箱即用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A21"/>
                    </a:solidFill>
                  </a:tcPr>
                </a:tc>
              </a:tr>
            </a:tbl>
          </a:graphicData>
        </a:graphic>
      </p:graphicFrame>
      <p:sp>
        <p:nvSpPr>
          <p:cNvPr id="84" name="Google Shape;84;p5"/>
          <p:cNvSpPr/>
          <p:nvPr/>
        </p:nvSpPr>
        <p:spPr>
          <a:xfrm>
            <a:off x="640080" y="5074920"/>
            <a:ext cx="10908792" cy="1234440"/>
          </a:xfrm>
          <a:prstGeom prst="roundRect">
            <a:avLst>
              <a:gd fmla="val 5926" name="adj"/>
            </a:avLst>
          </a:prstGeom>
          <a:solidFill>
            <a:srgbClr val="131D18"/>
          </a:solidFill>
          <a:ln cap="flat" cmpd="sng" w="12700">
            <a:solidFill>
              <a:srgbClr val="2A6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914400" y="521208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6BE"/>
              </a:buClr>
              <a:buSzPts val="1500"/>
              <a:buFont typeface="Microsoft JhengHei"/>
              <a:buNone/>
            </a:pPr>
            <a:r>
              <a:rPr b="1" i="0" lang="en-US" sz="1500" u="none" cap="none" strike="noStrike">
                <a:solidFill>
                  <a:srgbClr val="34D6B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關鍵</a:t>
            </a:r>
            <a:r>
              <a:rPr b="1" i="0" lang="en-US" sz="15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：不是競爭對手，是「層」與「站在層上的成品」。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914400" y="5596128"/>
            <a:ext cx="10332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153"/>
              </a:lnSpc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300"/>
              <a:buFont typeface="Microsoft JhengHei"/>
              <a:buNone/>
            </a:pPr>
            <a:r>
              <a:rPr b="0" i="0" lang="en-US" sz="13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Hermes 本身就帶一套 harness。回頭看它的 20 個坑——模型路由、CRON、deliver=origin、對話導向——</a:t>
            </a:r>
            <a:r>
              <a:rPr b="0" i="0" lang="en-US" sz="1300" u="none" cap="none" strike="noStrike">
                <a:solidFill>
                  <a:srgbClr val="34D6B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其實全是「在 Windows 上配置一套 harness」的具體難題。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0" y="6812280"/>
            <a:ext cx="1828754" cy="45720"/>
          </a:xfrm>
          <a:prstGeom prst="rect">
            <a:avLst/>
          </a:prstGeom>
          <a:solidFill>
            <a:srgbClr val="34D6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10607040" y="641908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3 / 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6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/>
          <p:nvPr/>
        </p:nvSpPr>
        <p:spPr>
          <a:xfrm>
            <a:off x="640080" y="585216"/>
            <a:ext cx="91440" cy="91440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822960" y="457200"/>
            <a:ext cx="10058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問題引入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640080" y="960120"/>
            <a:ext cx="109728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3600"/>
              <a:buFont typeface="Microsoft JhengHei"/>
              <a:buNone/>
            </a:pPr>
            <a:r>
              <a:rPr b="1" i="0" lang="en-US" sz="36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裝一個 AI agent，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3600"/>
              <a:buFont typeface="Microsoft JhengHei"/>
              <a:buNone/>
            </a:pPr>
            <a:r>
              <a:rPr b="1" i="0" lang="en-US" sz="36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為什麼會踩到 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B454"/>
              </a:buClr>
              <a:buSzPts val="3600"/>
              <a:buFont typeface="Microsoft JhengHei"/>
              <a:buNone/>
            </a:pPr>
            <a:r>
              <a:rPr b="1" i="0" lang="en-US" sz="3600" u="none" cap="none" strike="noStrike">
                <a:solidFill>
                  <a:srgbClr val="FFB45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20 個坑</a:t>
            </a:r>
            <a:r>
              <a:rPr b="1" i="0" lang="en-US" sz="36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？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640080" y="301752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2300"/>
              <a:buFont typeface="Microsoft JhengHei"/>
              <a:buNone/>
            </a:pPr>
            <a:r>
              <a:rPr b="0" i="0" lang="en-US" sz="23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因為真正的關卡，</a:t>
            </a:r>
            <a:r>
              <a:rPr b="1" i="0" lang="en-US" sz="2300" u="none" cap="none" strike="noStrike">
                <a:solidFill>
                  <a:srgbClr val="34D6B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幾乎都不是安裝指令本身</a:t>
            </a:r>
            <a:r>
              <a:rPr b="0" i="0" lang="en-US" sz="23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640080" y="3794760"/>
            <a:ext cx="10241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900"/>
              <a:buFont typeface="Microsoft JhengHei"/>
              <a:buNone/>
            </a:pPr>
            <a:r>
              <a:rPr b="0" i="0" lang="en-US" sz="19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而是兩件事：Windows 對這類工具的「</a:t>
            </a:r>
            <a:r>
              <a:rPr b="0" i="0" lang="en-US" sz="1900" u="none" cap="none" strike="noStrike">
                <a:solidFill>
                  <a:srgbClr val="FFB45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水土不服</a:t>
            </a:r>
            <a:r>
              <a:rPr b="0" i="0" lang="en-US" sz="19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」，以及一個必須轉過來的</a:t>
            </a:r>
            <a:r>
              <a:rPr b="0" i="0" lang="en-US" sz="1900" u="none" cap="none" strike="noStrike">
                <a:solidFill>
                  <a:srgbClr val="34D6B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心智模型</a:t>
            </a:r>
            <a:r>
              <a:rPr b="0" i="0" lang="en-US" sz="19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——它不是網站，是一個會用工具的同事。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640080" y="56692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＊ 接下來把 20 個坑收斂成 3 個階段，逐階段帶你走。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0" y="6812280"/>
            <a:ext cx="2438339" cy="45720"/>
          </a:xfrm>
          <a:prstGeom prst="rect">
            <a:avLst/>
          </a:prstGeom>
          <a:solidFill>
            <a:srgbClr val="34D6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10607040" y="641908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4 / 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6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"/>
          <p:cNvSpPr/>
          <p:nvPr/>
        </p:nvSpPr>
        <p:spPr>
          <a:xfrm>
            <a:off x="640080" y="585216"/>
            <a:ext cx="91440" cy="91440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822960" y="457200"/>
            <a:ext cx="10058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全局地圖 · 三階段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640080" y="914400"/>
            <a:ext cx="10972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3200"/>
              <a:buFont typeface="Microsoft JhengHei"/>
              <a:buNone/>
            </a:pPr>
            <a:r>
              <a:rPr b="1" i="0" lang="en-US" sz="32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20 個坑，分成三層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640080" y="1920240"/>
            <a:ext cx="3456432" cy="2651760"/>
          </a:xfrm>
          <a:prstGeom prst="roundRect">
            <a:avLst>
              <a:gd fmla="val 2759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896112" y="2176272"/>
            <a:ext cx="29443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454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FFB454"/>
                </a:solidFill>
                <a:latin typeface="Consolas"/>
                <a:ea typeface="Consolas"/>
                <a:cs typeface="Consolas"/>
                <a:sym typeface="Consolas"/>
              </a:rPr>
              <a:t>01–07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896112" y="2788920"/>
            <a:ext cx="29443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1900"/>
              <a:buFont typeface="Microsoft JhengHei"/>
              <a:buNone/>
            </a:pPr>
            <a:r>
              <a:rPr b="1" i="0" lang="en-US" sz="19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安裝層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896112" y="3337560"/>
            <a:ext cx="294436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300"/>
              <a:buFont typeface="Microsoft JhengHei"/>
              <a:buNone/>
            </a:pPr>
            <a:r>
              <a:rPr b="0" i="0" lang="en-US" sz="13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環境與平台差異。Windows 沒有 sudo／systemd，多數文件預設 Linux／macOS。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4370832" y="1920240"/>
            <a:ext cx="3456432" cy="2651760"/>
          </a:xfrm>
          <a:prstGeom prst="roundRect">
            <a:avLst>
              <a:gd fmla="val 2759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4626864" y="2176272"/>
            <a:ext cx="29443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454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FFB454"/>
                </a:solidFill>
                <a:latin typeface="Consolas"/>
                <a:ea typeface="Consolas"/>
                <a:cs typeface="Consolas"/>
                <a:sym typeface="Consolas"/>
              </a:rPr>
              <a:t>08–14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4626864" y="2788920"/>
            <a:ext cx="29443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1900"/>
              <a:buFont typeface="Microsoft JhengHei"/>
              <a:buNone/>
            </a:pPr>
            <a:r>
              <a:rPr b="1" i="0" lang="en-US" sz="19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模型層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4626864" y="3337560"/>
            <a:ext cx="294436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300"/>
              <a:buFont typeface="Microsoft JhengHei"/>
              <a:buNone/>
            </a:pPr>
            <a:r>
              <a:rPr b="0" i="0" lang="en-US" sz="13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多層設定的隱形成本。Main／Auxiliary／Profile／任務快照，改一層不夠。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8101584" y="1920240"/>
            <a:ext cx="3456432" cy="2651760"/>
          </a:xfrm>
          <a:prstGeom prst="roundRect">
            <a:avLst>
              <a:gd fmla="val 2759" name="adj"/>
            </a:avLst>
          </a:prstGeom>
          <a:solidFill>
            <a:srgbClr val="151A21"/>
          </a:solidFill>
          <a:ln cap="flat" cmpd="sng" w="12700">
            <a:solidFill>
              <a:srgbClr val="7A5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8357616" y="2176272"/>
            <a:ext cx="29443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454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FFB454"/>
                </a:solidFill>
                <a:latin typeface="Consolas"/>
                <a:ea typeface="Consolas"/>
                <a:cs typeface="Consolas"/>
                <a:sym typeface="Consolas"/>
              </a:rPr>
              <a:t>15–20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8357616" y="2788920"/>
            <a:ext cx="29443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1900"/>
              <a:buFont typeface="Microsoft JhengHei"/>
              <a:buNone/>
            </a:pPr>
            <a:r>
              <a:rPr b="1" i="0" lang="en-US" sz="19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工作流哲學 ⭐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8357616" y="3337560"/>
            <a:ext cx="294436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300"/>
              <a:buFont typeface="Microsoft JhengHei"/>
              <a:buNone/>
            </a:pPr>
            <a:r>
              <a:rPr b="0" i="0" lang="en-US" sz="13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最高優先級。對話是主軸、Dashboard 是儀表板；觸發點決定回報點。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640080" y="4937760"/>
            <a:ext cx="54864" cy="1097280"/>
          </a:xfrm>
          <a:prstGeom prst="rect">
            <a:avLst/>
          </a:prstGeom>
          <a:solidFill>
            <a:srgbClr val="34D6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914400" y="4983480"/>
            <a:ext cx="10424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2000"/>
              <a:buFont typeface="Microsoft JhengHei"/>
              <a:buNone/>
            </a:pPr>
            <a:r>
              <a:rPr b="1" i="0" lang="en-US" sz="20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帶走一句話：把 Hermes 當</a:t>
            </a:r>
            <a:r>
              <a:rPr b="1" i="0" lang="en-US" sz="2000" u="none" cap="none" strike="noStrike">
                <a:solidFill>
                  <a:srgbClr val="34D6B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會用工具的同事</a:t>
            </a:r>
            <a:r>
              <a:rPr b="1" i="0" lang="en-US" sz="20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，用「</a:t>
            </a:r>
            <a:r>
              <a:rPr b="1" i="0" lang="en-US" sz="2000" u="none" cap="none" strike="noStrike">
                <a:solidFill>
                  <a:srgbClr val="34D6B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講的</a:t>
            </a:r>
            <a:r>
              <a:rPr b="1" i="0" lang="en-US" sz="20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」；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2000"/>
              <a:buFont typeface="Microsoft JhengHei"/>
              <a:buNone/>
            </a:pPr>
            <a:r>
              <a:rPr b="1" i="0" lang="en-US" sz="20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而不是當網站，用「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B7185"/>
              </a:buClr>
              <a:buSzPts val="2000"/>
              <a:buFont typeface="Microsoft JhengHei"/>
              <a:buNone/>
            </a:pPr>
            <a:r>
              <a:rPr b="1" i="0" lang="en-US" sz="2000" u="none" cap="none" strike="noStrike">
                <a:solidFill>
                  <a:srgbClr val="FB718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點的</a:t>
            </a:r>
            <a:r>
              <a:rPr b="1" i="0" lang="en-US" sz="20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」。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0" y="6812280"/>
            <a:ext cx="3047924" cy="45720"/>
          </a:xfrm>
          <a:prstGeom prst="rect">
            <a:avLst/>
          </a:prstGeom>
          <a:solidFill>
            <a:srgbClr val="34D6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10607040" y="641908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5 / 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6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STAGE 01 / 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640080" y="2331720"/>
            <a:ext cx="109728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6400"/>
              <a:buFont typeface="Microsoft JhengHei"/>
              <a:buNone/>
            </a:pPr>
            <a:r>
              <a:rPr b="1" i="0" lang="en-US" sz="64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安裝層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640080" y="393192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800"/>
              <a:buFont typeface="Microsoft JhengHei"/>
              <a:buNone/>
            </a:pPr>
            <a:r>
              <a:rPr b="0" i="0" lang="en-US" sz="18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把它裝起來——關卡在「Windows 不是 Linux」。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640080" y="4846320"/>
            <a:ext cx="1060704" cy="384048"/>
          </a:xfrm>
          <a:prstGeom prst="roundRect">
            <a:avLst>
              <a:gd fmla="val 50000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"/>
          <p:cNvSpPr/>
          <p:nvPr/>
        </p:nvSpPr>
        <p:spPr>
          <a:xfrm>
            <a:off x="640080" y="4846320"/>
            <a:ext cx="106070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AA6B2"/>
                </a:solidFill>
                <a:latin typeface="Consolas"/>
                <a:ea typeface="Consolas"/>
                <a:cs typeface="Consolas"/>
                <a:sym typeface="Consolas"/>
              </a:rPr>
              <a:t>踩坑 1–7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1865376" y="4846320"/>
            <a:ext cx="2724912" cy="384048"/>
          </a:xfrm>
          <a:prstGeom prst="roundRect">
            <a:avLst>
              <a:gd fmla="val 50000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1865376" y="4846320"/>
            <a:ext cx="27249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AA6B2"/>
                </a:solidFill>
                <a:latin typeface="Consolas"/>
                <a:ea typeface="Consolas"/>
                <a:cs typeface="Consolas"/>
                <a:sym typeface="Consolas"/>
              </a:rPr>
              <a:t>PATH · Python · cmd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4754880" y="4846320"/>
            <a:ext cx="2852928" cy="384048"/>
          </a:xfrm>
          <a:prstGeom prst="roundRect">
            <a:avLst>
              <a:gd fmla="val 50000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4754880" y="4846320"/>
            <a:ext cx="28529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AA6B2"/>
                </a:solidFill>
                <a:latin typeface="Consolas"/>
                <a:ea typeface="Consolas"/>
                <a:cs typeface="Consolas"/>
                <a:sym typeface="Consolas"/>
              </a:rPr>
              <a:t>sudo · gateway · UAC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0" y="6812280"/>
            <a:ext cx="3657509" cy="45720"/>
          </a:xfrm>
          <a:prstGeom prst="rect">
            <a:avLst/>
          </a:prstGeom>
          <a:solidFill>
            <a:srgbClr val="34D6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10607040" y="641908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6 / 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6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/>
          <p:nvPr/>
        </p:nvSpPr>
        <p:spPr>
          <a:xfrm>
            <a:off x="640080" y="585216"/>
            <a:ext cx="91440" cy="91440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"/>
          <p:cNvSpPr/>
          <p:nvPr/>
        </p:nvSpPr>
        <p:spPr>
          <a:xfrm>
            <a:off x="822960" y="457200"/>
            <a:ext cx="10058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安裝層 · 環境關卡（坑 1–3）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640080" y="914400"/>
            <a:ext cx="10972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3200"/>
              <a:buFont typeface="Microsoft JhengHei"/>
              <a:buNone/>
            </a:pPr>
            <a:r>
              <a:rPr b="1" i="0" lang="en-US" sz="32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別跟 pip 糾纏，</a:t>
            </a:r>
            <a:r>
              <a:rPr b="1" i="0" lang="en-US" sz="3200" u="none" cap="none" strike="noStrike">
                <a:solidFill>
                  <a:srgbClr val="34D6B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一行腳本</a:t>
            </a:r>
            <a:r>
              <a:rPr b="1" i="0" lang="en-US" sz="32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全包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640080" y="1783080"/>
            <a:ext cx="10908792" cy="658368"/>
          </a:xfrm>
          <a:prstGeom prst="roundRect">
            <a:avLst>
              <a:gd fmla="val 11111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841248" y="1920240"/>
            <a:ext cx="960120" cy="384048"/>
          </a:xfrm>
          <a:prstGeom prst="roundRect">
            <a:avLst>
              <a:gd fmla="val 14286" name="adj"/>
            </a:avLst>
          </a:prstGeom>
          <a:solidFill>
            <a:srgbClr val="2A2114"/>
          </a:solidFill>
          <a:ln cap="flat" cmpd="sng" w="12700">
            <a:solidFill>
              <a:srgbClr val="7A5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"/>
          <p:cNvSpPr/>
          <p:nvPr/>
        </p:nvSpPr>
        <p:spPr>
          <a:xfrm>
            <a:off x="841248" y="1920240"/>
            <a:ext cx="960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454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B454"/>
                </a:solidFill>
                <a:latin typeface="Consolas"/>
                <a:ea typeface="Consolas"/>
                <a:cs typeface="Consolas"/>
                <a:sym typeface="Consolas"/>
              </a:rPr>
              <a:t>坑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2011680" y="1892808"/>
            <a:ext cx="930859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1300"/>
              <a:buFont typeface="Microsoft JhengHei"/>
              <a:buNone/>
            </a:pPr>
            <a:r>
              <a:rPr b="1" i="0" lang="en-US" sz="13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pip 不在 PATH</a:t>
            </a:r>
            <a:r>
              <a:rPr b="0" i="0" lang="en-US" sz="13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：cmd 打 pip install 噴「不是內部或外部命令」。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640080" y="2587752"/>
            <a:ext cx="10908792" cy="658368"/>
          </a:xfrm>
          <a:prstGeom prst="roundRect">
            <a:avLst>
              <a:gd fmla="val 11111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841248" y="2724912"/>
            <a:ext cx="960120" cy="384048"/>
          </a:xfrm>
          <a:prstGeom prst="roundRect">
            <a:avLst>
              <a:gd fmla="val 14286" name="adj"/>
            </a:avLst>
          </a:prstGeom>
          <a:solidFill>
            <a:srgbClr val="2A2114"/>
          </a:solidFill>
          <a:ln cap="flat" cmpd="sng" w="12700">
            <a:solidFill>
              <a:srgbClr val="7A5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841248" y="2724912"/>
            <a:ext cx="960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454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B454"/>
                </a:solidFill>
                <a:latin typeface="Consolas"/>
                <a:ea typeface="Consolas"/>
                <a:cs typeface="Consolas"/>
                <a:sym typeface="Consolas"/>
              </a:rPr>
              <a:t>坑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2011680" y="2697480"/>
            <a:ext cx="930859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1300"/>
              <a:buFont typeface="Microsoft JhengHei"/>
              <a:buNone/>
            </a:pPr>
            <a:r>
              <a:rPr b="1" i="0" lang="en-US" sz="13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Python 3.9 太舊</a:t>
            </a:r>
            <a:r>
              <a:rPr b="0" i="0" lang="en-US" sz="13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：Hermes 需要 </a:t>
            </a:r>
            <a:r>
              <a:rPr b="0" i="0" lang="en-US" sz="1300" u="none" cap="none" strike="noStrike">
                <a:solidFill>
                  <a:srgbClr val="6FB3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3.11+</a:t>
            </a:r>
            <a:r>
              <a:rPr b="0" i="0" lang="en-US" sz="13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，純 pip 裝會失敗。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640080" y="3392424"/>
            <a:ext cx="10908792" cy="658368"/>
          </a:xfrm>
          <a:prstGeom prst="roundRect">
            <a:avLst>
              <a:gd fmla="val 11111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841248" y="3529584"/>
            <a:ext cx="960120" cy="384048"/>
          </a:xfrm>
          <a:prstGeom prst="roundRect">
            <a:avLst>
              <a:gd fmla="val 14286" name="adj"/>
            </a:avLst>
          </a:prstGeom>
          <a:solidFill>
            <a:srgbClr val="2A2114"/>
          </a:solidFill>
          <a:ln cap="flat" cmpd="sng" w="12700">
            <a:solidFill>
              <a:srgbClr val="7A5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841248" y="3529584"/>
            <a:ext cx="960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454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B454"/>
                </a:solidFill>
                <a:latin typeface="Consolas"/>
                <a:ea typeface="Consolas"/>
                <a:cs typeface="Consolas"/>
                <a:sym typeface="Consolas"/>
              </a:rPr>
              <a:t>坑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2011680" y="3502152"/>
            <a:ext cx="930859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1300"/>
              <a:buFont typeface="Microsoft JhengHei"/>
              <a:buNone/>
            </a:pPr>
            <a:r>
              <a:rPr b="1" i="0" lang="en-US" sz="13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cmd 不認 &amp;&amp; </a:t>
            </a:r>
            <a:r>
              <a:rPr b="0" i="0" lang="en-US" sz="13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：那是 PowerShell 7／bash 語法。</a:t>
            </a:r>
            <a:r>
              <a:rPr b="0" i="0" lang="en-US" sz="1300" u="none" cap="none" strike="noStrike">
                <a:solidFill>
                  <a:srgbClr val="34D6B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→ 改用 PowerShell。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640080" y="4251960"/>
            <a:ext cx="10908792" cy="1207008"/>
          </a:xfrm>
          <a:prstGeom prst="rect">
            <a:avLst/>
          </a:prstGeom>
          <a:solidFill>
            <a:srgbClr val="0A0D12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640080" y="4251960"/>
            <a:ext cx="10908792" cy="310896"/>
          </a:xfrm>
          <a:prstGeom prst="rect">
            <a:avLst/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786384" y="4357116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950976" y="4357116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1115568" y="4357116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1353312" y="4251960"/>
            <a:ext cx="99943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PowerShell（不要用 cmd）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841248" y="4654296"/>
            <a:ext cx="10506456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153"/>
              </a:lnSpc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# 一行搞定：自動裝齊 Python 3.11 + Node.js + ripgrep + ffmpeg + uv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6153"/>
              </a:lnSpc>
              <a:spcBef>
                <a:spcPts val="0"/>
              </a:spcBef>
              <a:spcAft>
                <a:spcPts val="0"/>
              </a:spcAft>
              <a:buClr>
                <a:srgbClr val="D7E3E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D7E3EF"/>
                </a:solidFill>
                <a:latin typeface="Consolas"/>
                <a:ea typeface="Consolas"/>
                <a:cs typeface="Consolas"/>
                <a:sym typeface="Consolas"/>
              </a:rPr>
              <a:t>irm https://raw.githubusercontent.com/NousResearch/hermes-agent/main/scripts/install.ps1 | iex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＊ 裝完重開一個 PowerShell，PATH 變更才會生效。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0" y="6812280"/>
            <a:ext cx="4267093" cy="45720"/>
          </a:xfrm>
          <a:prstGeom prst="rect">
            <a:avLst/>
          </a:prstGeom>
          <a:solidFill>
            <a:srgbClr val="34D6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10607040" y="641908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7 / 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6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"/>
          <p:cNvSpPr/>
          <p:nvPr/>
        </p:nvSpPr>
        <p:spPr>
          <a:xfrm>
            <a:off x="640080" y="585216"/>
            <a:ext cx="91440" cy="91440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822960" y="457200"/>
            <a:ext cx="10058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安裝層 · SETUP 精靈四陷阱（坑 4–7）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640080" y="914400"/>
            <a:ext cx="10972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3200"/>
              <a:buFont typeface="Microsoft JhengHei"/>
              <a:buNone/>
            </a:pPr>
            <a:r>
              <a:rPr b="1" i="0" lang="en-US" sz="32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精靈問你的問題，</a:t>
            </a:r>
            <a:r>
              <a:rPr b="1" i="0" lang="en-US" sz="3200" u="none" cap="none" strike="noStrike">
                <a:solidFill>
                  <a:srgbClr val="34D6B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照表回答</a:t>
            </a:r>
            <a:r>
              <a:rPr b="1" i="0" lang="en-US" sz="32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就好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5" name="Google Shape;185;p10"/>
          <p:cNvGraphicFramePr/>
          <p:nvPr/>
        </p:nvGraphicFramePr>
        <p:xfrm>
          <a:off x="640080" y="178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{942301CC-5D53-4068-9DEA-ACA0CB921BCC}</a:tableStyleId>
              </a:tblPr>
              <a:tblGrid>
                <a:gridCol w="914400"/>
                <a:gridCol w="4572000"/>
                <a:gridCol w="5422400"/>
              </a:tblGrid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6975"/>
                        </a:buClr>
                        <a:buSzPts val="1100"/>
                        <a:buFont typeface="Consola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5E69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坑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3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6975"/>
                        </a:buClr>
                        <a:buSzPts val="1100"/>
                        <a:buFont typeface="Consola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5E69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現象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3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6975"/>
                        </a:buClr>
                        <a:buSzPts val="1100"/>
                        <a:buFont typeface="Consola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5E69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正解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32C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454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B45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A6B2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en-US" sz="1300" u="none" cap="none" strike="noStrike">
                          <a:solidFill>
                            <a:srgbClr val="9AA6B2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問 </a:t>
                      </a:r>
                      <a:r>
                        <a:rPr lang="en-US" sz="1300" u="none" cap="none" strike="noStrike">
                          <a:solidFill>
                            <a:srgbClr val="6FB3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Enable sudo support?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A6B2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en-US" sz="1300" u="none" cap="none" strike="noStrike">
                          <a:solidFill>
                            <a:srgbClr val="9AA6B2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一律答 </a:t>
                      </a:r>
                      <a:r>
                        <a:rPr b="1" lang="en-US" sz="1300" u="none" cap="none" strike="noStrike">
                          <a:solidFill>
                            <a:srgbClr val="34D6BE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N</a:t>
                      </a:r>
                      <a:r>
                        <a:rPr lang="en-US" sz="1300" u="none" cap="none" strike="noStrike">
                          <a:solidFill>
                            <a:srgbClr val="9AA6B2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（Windows 沒有 sudo）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A21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454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B45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FB3FF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6FB3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gateway start</a:t>
                      </a:r>
                      <a:r>
                        <a:rPr lang="en-US" sz="1300" u="none" cap="none" strike="noStrike">
                          <a:solidFill>
                            <a:srgbClr val="9AA6B2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卡死轉圈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A6B2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en-US" sz="1300" u="none" cap="none" strike="noStrike">
                          <a:solidFill>
                            <a:srgbClr val="9AA6B2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改用 </a:t>
                      </a:r>
                      <a:r>
                        <a:rPr lang="en-US" sz="1300" u="none" cap="none" strike="noStrike">
                          <a:solidFill>
                            <a:srgbClr val="6FB3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hermes gateway run</a:t>
                      </a:r>
                      <a:r>
                        <a:rPr lang="en-US" sz="1300" u="none" cap="none" strike="noStrike">
                          <a:solidFill>
                            <a:srgbClr val="FFB454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（視窗不能關）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A21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454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B45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A6B2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en-US" sz="1300" u="none" cap="none" strike="noStrike">
                          <a:solidFill>
                            <a:srgbClr val="9AA6B2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UAC scheduled task 迴圈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A6B2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en-US" sz="1300" u="none" cap="none" strike="noStrike">
                          <a:solidFill>
                            <a:srgbClr val="9AA6B2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所有自啟動／排程問題一律 </a:t>
                      </a:r>
                      <a:r>
                        <a:rPr b="1" lang="en-US" sz="1300" u="none" cap="none" strike="noStrike">
                          <a:solidFill>
                            <a:srgbClr val="34D6BE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N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A21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454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B45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FB3FF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6FB3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hermes ui</a:t>
                      </a:r>
                      <a:r>
                        <a:rPr lang="en-US" sz="1300" u="none" cap="none" strike="noStrike">
                          <a:solidFill>
                            <a:srgbClr val="9AA6B2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→ invalid choice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A6B2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en-US" sz="1300" u="none" cap="none" strike="noStrike">
                          <a:solidFill>
                            <a:srgbClr val="9AA6B2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正確指令是 </a:t>
                      </a:r>
                      <a:r>
                        <a:rPr lang="en-US" sz="1300" u="none" cap="none" strike="noStrike">
                          <a:solidFill>
                            <a:srgbClr val="6FB3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hermes dashboard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A21"/>
                    </a:solidFill>
                  </a:tcPr>
                </a:tc>
              </a:tr>
            </a:tbl>
          </a:graphicData>
        </a:graphic>
      </p:graphicFrame>
      <p:sp>
        <p:nvSpPr>
          <p:cNvPr id="186" name="Google Shape;186;p10"/>
          <p:cNvSpPr/>
          <p:nvPr/>
        </p:nvSpPr>
        <p:spPr>
          <a:xfrm>
            <a:off x="640080" y="5349240"/>
            <a:ext cx="54864" cy="77724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"/>
          <p:cNvSpPr/>
          <p:nvPr/>
        </p:nvSpPr>
        <p:spPr>
          <a:xfrm>
            <a:off x="914400" y="5394960"/>
            <a:ext cx="10424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1800"/>
              <a:buFont typeface="Microsoft JhengHei"/>
              <a:buNone/>
            </a:pPr>
            <a:r>
              <a:rPr b="1" i="0" lang="en-US" sz="18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心法：</a:t>
            </a:r>
            <a:r>
              <a:rPr b="0" i="0" lang="en-US" sz="1800" u="none" cap="none" strike="noStrike">
                <a:solidFill>
                  <a:srgbClr val="FFB45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看到 sudo / systemd / scheduled task —— 那是 Linux 的世界，跳過它。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"/>
          <p:cNvSpPr/>
          <p:nvPr/>
        </p:nvSpPr>
        <p:spPr>
          <a:xfrm>
            <a:off x="0" y="6812280"/>
            <a:ext cx="4876678" cy="45720"/>
          </a:xfrm>
          <a:prstGeom prst="rect">
            <a:avLst/>
          </a:prstGeom>
          <a:solidFill>
            <a:srgbClr val="34D6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0"/>
          <p:cNvSpPr/>
          <p:nvPr/>
        </p:nvSpPr>
        <p:spPr>
          <a:xfrm>
            <a:off x="10607040" y="641908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8 / 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6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"/>
          <p:cNvSpPr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STAGE 02 / 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640080" y="2331720"/>
            <a:ext cx="109728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6400"/>
              <a:buFont typeface="Microsoft JhengHei"/>
              <a:buNone/>
            </a:pPr>
            <a:r>
              <a:rPr b="1" i="0" lang="en-US" sz="64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模型層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640080" y="393192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800"/>
              <a:buFont typeface="Microsoft JhengHei"/>
              <a:buNone/>
            </a:pPr>
            <a:r>
              <a:rPr b="0" i="0" lang="en-US" sz="18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換成免費模型——關卡在「設定不只一層」。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640080" y="4846320"/>
            <a:ext cx="1188720" cy="384048"/>
          </a:xfrm>
          <a:prstGeom prst="roundRect">
            <a:avLst>
              <a:gd fmla="val 50000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"/>
          <p:cNvSpPr/>
          <p:nvPr/>
        </p:nvSpPr>
        <p:spPr>
          <a:xfrm>
            <a:off x="640080" y="4846320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AA6B2"/>
                </a:solidFill>
                <a:latin typeface="Consolas"/>
                <a:ea typeface="Consolas"/>
                <a:cs typeface="Consolas"/>
                <a:sym typeface="Consolas"/>
              </a:rPr>
              <a:t>踩坑 8–14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1993392" y="4846320"/>
            <a:ext cx="3621024" cy="384048"/>
          </a:xfrm>
          <a:prstGeom prst="roundRect">
            <a:avLst>
              <a:gd fmla="val 50000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1"/>
          <p:cNvSpPr/>
          <p:nvPr/>
        </p:nvSpPr>
        <p:spPr>
          <a:xfrm>
            <a:off x="1993392" y="4846320"/>
            <a:ext cx="36210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AA6B2"/>
                </a:solidFill>
                <a:latin typeface="Consolas"/>
                <a:ea typeface="Consolas"/>
                <a:cs typeface="Consolas"/>
                <a:sym typeface="Consolas"/>
              </a:rPr>
              <a:t>Main · Auxiliary · Profile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5779008" y="4846320"/>
            <a:ext cx="3493008" cy="384048"/>
          </a:xfrm>
          <a:prstGeom prst="roundRect">
            <a:avLst>
              <a:gd fmla="val 50000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"/>
          <p:cNvSpPr/>
          <p:nvPr/>
        </p:nvSpPr>
        <p:spPr>
          <a:xfrm>
            <a:off x="5779008" y="4846320"/>
            <a:ext cx="34930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AA6B2"/>
                </a:solidFill>
                <a:latin typeface="Consolas"/>
                <a:ea typeface="Consolas"/>
                <a:cs typeface="Consolas"/>
                <a:sym typeface="Consolas"/>
              </a:rPr>
              <a:t>CRON · Kanban · BotFather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1"/>
          <p:cNvSpPr/>
          <p:nvPr/>
        </p:nvSpPr>
        <p:spPr>
          <a:xfrm>
            <a:off x="0" y="6812280"/>
            <a:ext cx="5486263" cy="45720"/>
          </a:xfrm>
          <a:prstGeom prst="rect">
            <a:avLst/>
          </a:prstGeom>
          <a:solidFill>
            <a:srgbClr val="34D6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"/>
          <p:cNvSpPr/>
          <p:nvPr/>
        </p:nvSpPr>
        <p:spPr>
          <a:xfrm>
            <a:off x="10607040" y="641908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9 / 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6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"/>
          <p:cNvSpPr/>
          <p:nvPr/>
        </p:nvSpPr>
        <p:spPr>
          <a:xfrm>
            <a:off x="640080" y="585216"/>
            <a:ext cx="91440" cy="91440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2"/>
          <p:cNvSpPr/>
          <p:nvPr/>
        </p:nvSpPr>
        <p:spPr>
          <a:xfrm>
            <a:off x="822960" y="457200"/>
            <a:ext cx="10058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模型層 · 關鍵 ★（坑 10–13）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640080" y="914400"/>
            <a:ext cx="10972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3200"/>
              <a:buFont typeface="Microsoft JhengHei"/>
              <a:buNone/>
            </a:pPr>
            <a:r>
              <a:rPr b="1" i="0" lang="en-US" sz="32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四層模型設定，</a:t>
            </a:r>
            <a:r>
              <a:rPr b="1" i="0" lang="en-US" sz="3200" u="none" cap="none" strike="noStrike">
                <a:solidFill>
                  <a:srgbClr val="FFB45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改一層不夠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640080" y="17373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400"/>
              <a:buFont typeface="Microsoft JhengHei"/>
              <a:buNone/>
            </a:pPr>
            <a:r>
              <a:rPr b="0" i="0" lang="en-US" sz="14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預設用付費的 Claude Opus 4.6 → 餘額不足噴 404。改 Gemini 要層層落實：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640080" y="2286000"/>
            <a:ext cx="5330952" cy="1600200"/>
          </a:xfrm>
          <a:prstGeom prst="roundRect">
            <a:avLst>
              <a:gd fmla="val 4571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2"/>
          <p:cNvSpPr/>
          <p:nvPr/>
        </p:nvSpPr>
        <p:spPr>
          <a:xfrm>
            <a:off x="877824" y="2450592"/>
            <a:ext cx="48737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454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FFB454"/>
                </a:solidFill>
                <a:latin typeface="Consolas"/>
                <a:ea typeface="Consolas"/>
                <a:cs typeface="Consolas"/>
                <a:sym typeface="Consolas"/>
              </a:rPr>
              <a:t>10  </a:t>
            </a:r>
            <a:r>
              <a:rPr b="1" i="0" lang="en-US" sz="16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Main Model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877824" y="2907792"/>
            <a:ext cx="487375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250"/>
              <a:buFont typeface="Microsoft JhengHei"/>
              <a:buNone/>
            </a:pPr>
            <a:r>
              <a:rPr b="0" i="0" lang="en-US" sz="125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對話主模型。改成免費的 </a:t>
            </a:r>
            <a:r>
              <a:rPr b="0" i="0" lang="en-US" sz="1250" u="none" cap="none" strike="noStrike">
                <a:solidFill>
                  <a:srgbClr val="6FB3FF"/>
                </a:solidFill>
                <a:latin typeface="Consolas"/>
                <a:ea typeface="Consolas"/>
                <a:cs typeface="Consolas"/>
                <a:sym typeface="Consolas"/>
              </a:rPr>
              <a:t>google/gemini-3-flash-preview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6217920" y="2286000"/>
            <a:ext cx="5330952" cy="1600200"/>
          </a:xfrm>
          <a:prstGeom prst="roundRect">
            <a:avLst>
              <a:gd fmla="val 4571" name="adj"/>
            </a:avLst>
          </a:prstGeom>
          <a:solidFill>
            <a:srgbClr val="151A21"/>
          </a:solidFill>
          <a:ln cap="flat" cmpd="sng" w="12700">
            <a:solidFill>
              <a:srgbClr val="7A5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2"/>
          <p:cNvSpPr/>
          <p:nvPr/>
        </p:nvSpPr>
        <p:spPr>
          <a:xfrm>
            <a:off x="6455664" y="2450592"/>
            <a:ext cx="48737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454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FFB454"/>
                </a:solidFill>
                <a:latin typeface="Consolas"/>
                <a:ea typeface="Consolas"/>
                <a:cs typeface="Consolas"/>
                <a:sym typeface="Consolas"/>
              </a:rPr>
              <a:t>11  </a:t>
            </a:r>
            <a:r>
              <a:rPr b="1" i="0" lang="en-US" sz="16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Auxiliary Tasks ★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6455664" y="2907792"/>
            <a:ext cx="487375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1250"/>
              <a:buFont typeface="Microsoft JhengHei"/>
              <a:buNone/>
            </a:pPr>
            <a:r>
              <a:rPr b="1" i="0" lang="en-US" sz="125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11 項輔助任務各自獨立</a:t>
            </a:r>
            <a:r>
              <a:rPr b="0" i="0" lang="en-US" sz="125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，預設全＝Claude。逐項 override 成 Gemini，狀態列要顯示 11 overrides·0 auto。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640080" y="4114800"/>
            <a:ext cx="5330952" cy="1600200"/>
          </a:xfrm>
          <a:prstGeom prst="roundRect">
            <a:avLst>
              <a:gd fmla="val 4571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2"/>
          <p:cNvSpPr/>
          <p:nvPr/>
        </p:nvSpPr>
        <p:spPr>
          <a:xfrm>
            <a:off x="877824" y="4279392"/>
            <a:ext cx="48737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454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FFB454"/>
                </a:solidFill>
                <a:latin typeface="Consolas"/>
                <a:ea typeface="Consolas"/>
                <a:cs typeface="Consolas"/>
                <a:sym typeface="Consolas"/>
              </a:rPr>
              <a:t>12  </a:t>
            </a:r>
            <a:r>
              <a:rPr b="1" i="0" lang="en-US" sz="16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Profile 欄位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877824" y="4736592"/>
            <a:ext cx="487375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1250"/>
              <a:buFont typeface="Microsoft JhengHei"/>
              <a:buNone/>
            </a:pPr>
            <a:r>
              <a:rPr b="1" i="0" lang="en-US" sz="125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名稱與模型是分開兩欄</a:t>
            </a:r>
            <a:r>
              <a:rPr b="0" i="0" lang="en-US" sz="125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。含 / 的模型代號填到名稱欄會被 reject。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6217920" y="4114800"/>
            <a:ext cx="5330952" cy="1600200"/>
          </a:xfrm>
          <a:prstGeom prst="roundRect">
            <a:avLst>
              <a:gd fmla="val 4571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2"/>
          <p:cNvSpPr/>
          <p:nvPr/>
        </p:nvSpPr>
        <p:spPr>
          <a:xfrm>
            <a:off x="6455664" y="4279392"/>
            <a:ext cx="48737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454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FFB454"/>
                </a:solidFill>
                <a:latin typeface="Consolas"/>
                <a:ea typeface="Consolas"/>
                <a:cs typeface="Consolas"/>
                <a:sym typeface="Consolas"/>
              </a:rPr>
              <a:t>13  </a:t>
            </a:r>
            <a:r>
              <a:rPr b="1" i="0" lang="en-US" sz="16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CRON 快照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6455664" y="4736592"/>
            <a:ext cx="487375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1250"/>
              <a:buFont typeface="Microsoft JhengHei"/>
              <a:buNone/>
            </a:pPr>
            <a:r>
              <a:rPr b="1" i="0" lang="en-US" sz="125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舊任務把模型寫死在建立當下</a:t>
            </a:r>
            <a:r>
              <a:rPr b="0" i="0" lang="en-US" sz="125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。改設定後要</a:t>
            </a:r>
            <a:r>
              <a:rPr b="0" i="0" lang="en-US" sz="1250" u="none" cap="none" strike="noStrike">
                <a:solidFill>
                  <a:srgbClr val="34D6B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砍掉重建</a:t>
            </a:r>
            <a:r>
              <a:rPr b="0" i="0" lang="en-US" sz="125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才會吃新值。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640080" y="6080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200"/>
              <a:buFont typeface="Microsoft JhengHei"/>
              <a:buNone/>
            </a:pPr>
            <a:r>
              <a:rPr b="0" i="0" lang="en-US" sz="12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🚨 千萬別按 </a:t>
            </a:r>
            <a:r>
              <a:rPr b="0" i="0" lang="en-US" sz="1200" u="none" cap="none" strike="noStrike">
                <a:solidFill>
                  <a:srgbClr val="FB7185"/>
                </a:solidFill>
                <a:latin typeface="Consolas"/>
                <a:ea typeface="Consolas"/>
                <a:cs typeface="Consolas"/>
                <a:sym typeface="Consolas"/>
              </a:rPr>
              <a:t>RESET ALL TO AUTO</a:t>
            </a:r>
            <a:r>
              <a:rPr b="0" i="0" lang="en-US" sz="12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，會打回原狀、前功盡棄。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"/>
          <p:cNvSpPr/>
          <p:nvPr/>
        </p:nvSpPr>
        <p:spPr>
          <a:xfrm>
            <a:off x="0" y="6812280"/>
            <a:ext cx="6095848" cy="45720"/>
          </a:xfrm>
          <a:prstGeom prst="rect">
            <a:avLst/>
          </a:prstGeom>
          <a:solidFill>
            <a:srgbClr val="34D6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2"/>
          <p:cNvSpPr/>
          <p:nvPr/>
        </p:nvSpPr>
        <p:spPr>
          <a:xfrm>
            <a:off x="10607040" y="641908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10 / 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6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3"/>
          <p:cNvSpPr/>
          <p:nvPr/>
        </p:nvSpPr>
        <p:spPr>
          <a:xfrm>
            <a:off x="640080" y="585216"/>
            <a:ext cx="91440" cy="91440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3"/>
          <p:cNvSpPr/>
          <p:nvPr/>
        </p:nvSpPr>
        <p:spPr>
          <a:xfrm>
            <a:off x="822960" y="457200"/>
            <a:ext cx="10058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模型層 · 三個觀念修正（坑 8 · 9 · 14）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640080" y="914400"/>
            <a:ext cx="10972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3200"/>
              <a:buFont typeface="Microsoft JhengHei"/>
              <a:buNone/>
            </a:pPr>
            <a:r>
              <a:rPr b="1" i="0" lang="en-US" sz="32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三個「以為是這樣，其實不是」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3"/>
          <p:cNvSpPr/>
          <p:nvPr/>
        </p:nvSpPr>
        <p:spPr>
          <a:xfrm>
            <a:off x="640080" y="1828800"/>
            <a:ext cx="10908792" cy="1078992"/>
          </a:xfrm>
          <a:prstGeom prst="roundRect">
            <a:avLst>
              <a:gd fmla="val 6780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3"/>
          <p:cNvSpPr/>
          <p:nvPr/>
        </p:nvSpPr>
        <p:spPr>
          <a:xfrm>
            <a:off x="841248" y="2176272"/>
            <a:ext cx="960120" cy="384048"/>
          </a:xfrm>
          <a:prstGeom prst="roundRect">
            <a:avLst>
              <a:gd fmla="val 14286" name="adj"/>
            </a:avLst>
          </a:prstGeom>
          <a:solidFill>
            <a:srgbClr val="2A2114"/>
          </a:solidFill>
          <a:ln cap="flat" cmpd="sng" w="12700">
            <a:solidFill>
              <a:srgbClr val="7A5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3"/>
          <p:cNvSpPr/>
          <p:nvPr/>
        </p:nvSpPr>
        <p:spPr>
          <a:xfrm>
            <a:off x="841248" y="2176272"/>
            <a:ext cx="960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454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B454"/>
                </a:solidFill>
                <a:latin typeface="Consolas"/>
                <a:ea typeface="Consolas"/>
                <a:cs typeface="Consolas"/>
                <a:sym typeface="Consolas"/>
              </a:rPr>
              <a:t>坑 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"/>
          <p:cNvSpPr/>
          <p:nvPr/>
        </p:nvSpPr>
        <p:spPr>
          <a:xfrm>
            <a:off x="2011680" y="1938528"/>
            <a:ext cx="9308592" cy="85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1300"/>
              <a:buFont typeface="Microsoft JhengHei"/>
              <a:buNone/>
            </a:pPr>
            <a:r>
              <a:rPr b="1" i="0" lang="en-US" sz="13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Kanban ≠ 分類看板</a:t>
            </a:r>
            <a:r>
              <a:rPr b="0" i="0" lang="en-US" sz="13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。它是 </a:t>
            </a:r>
            <a:r>
              <a:rPr b="0" i="0" lang="en-US" sz="1300" u="none" cap="none" strike="noStrike">
                <a:solidFill>
                  <a:srgbClr val="34D6B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AI 任務佇列</a:t>
            </a:r>
            <a:r>
              <a:rPr b="0" i="0" lang="en-US" sz="13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（待分類→待辦→已排程→完成），每張卡是一個任務。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300"/>
              <a:buFont typeface="Microsoft JhengHei"/>
              <a:buNone/>
            </a:pPr>
            <a:r>
              <a:rPr b="0" i="0" lang="en-US" sz="13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定時抓資訊 → 用 CRON；丟具體任務 → 用 Kanban。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640080" y="3072384"/>
            <a:ext cx="10908792" cy="1078992"/>
          </a:xfrm>
          <a:prstGeom prst="roundRect">
            <a:avLst>
              <a:gd fmla="val 6780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3"/>
          <p:cNvSpPr/>
          <p:nvPr/>
        </p:nvSpPr>
        <p:spPr>
          <a:xfrm>
            <a:off x="841248" y="3419856"/>
            <a:ext cx="960120" cy="384048"/>
          </a:xfrm>
          <a:prstGeom prst="roundRect">
            <a:avLst>
              <a:gd fmla="val 14286" name="adj"/>
            </a:avLst>
          </a:prstGeom>
          <a:solidFill>
            <a:srgbClr val="2A2114"/>
          </a:solidFill>
          <a:ln cap="flat" cmpd="sng" w="12700">
            <a:solidFill>
              <a:srgbClr val="7A5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3"/>
          <p:cNvSpPr/>
          <p:nvPr/>
        </p:nvSpPr>
        <p:spPr>
          <a:xfrm>
            <a:off x="841248" y="3419856"/>
            <a:ext cx="960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454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B454"/>
                </a:solidFill>
                <a:latin typeface="Consolas"/>
                <a:ea typeface="Consolas"/>
                <a:cs typeface="Consolas"/>
                <a:sym typeface="Consolas"/>
              </a:rPr>
              <a:t>坑 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3"/>
          <p:cNvSpPr/>
          <p:nvPr/>
        </p:nvSpPr>
        <p:spPr>
          <a:xfrm>
            <a:off x="2011680" y="3182112"/>
            <a:ext cx="9308592" cy="85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1300"/>
              <a:buFont typeface="Microsoft JhengHei"/>
              <a:buNone/>
            </a:pPr>
            <a:r>
              <a:rPr b="1" i="0" lang="en-US" sz="13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CRON 不能寫 0900</a:t>
            </a:r>
            <a:r>
              <a:rPr b="0" i="0" lang="en-US" sz="13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。要 5 個欄位用空白隔開（分 時 日 月 週）。每天 9:00 = </a:t>
            </a:r>
            <a:r>
              <a:rPr b="0" i="0" lang="en-US" sz="1300" u="none" cap="none" strike="noStrike">
                <a:solidFill>
                  <a:srgbClr val="6FB3FF"/>
                </a:solidFill>
                <a:latin typeface="Consolas"/>
                <a:ea typeface="Consolas"/>
                <a:cs typeface="Consolas"/>
                <a:sym typeface="Consolas"/>
              </a:rPr>
              <a:t>0 9 * * *</a:t>
            </a:r>
            <a:r>
              <a:rPr b="0" i="0" lang="en-US" sz="13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300"/>
              <a:buFont typeface="Microsoft JhengHei"/>
              <a:buNone/>
            </a:pPr>
            <a:r>
              <a:rPr b="0" i="0" lang="en-US" sz="13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不熟就上 crontab.guru。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3"/>
          <p:cNvSpPr/>
          <p:nvPr/>
        </p:nvSpPr>
        <p:spPr>
          <a:xfrm>
            <a:off x="640080" y="4315968"/>
            <a:ext cx="10908792" cy="1078992"/>
          </a:xfrm>
          <a:prstGeom prst="roundRect">
            <a:avLst>
              <a:gd fmla="val 6780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3"/>
          <p:cNvSpPr/>
          <p:nvPr/>
        </p:nvSpPr>
        <p:spPr>
          <a:xfrm>
            <a:off x="841248" y="4663440"/>
            <a:ext cx="960120" cy="384048"/>
          </a:xfrm>
          <a:prstGeom prst="roundRect">
            <a:avLst>
              <a:gd fmla="val 14286" name="adj"/>
            </a:avLst>
          </a:prstGeom>
          <a:solidFill>
            <a:srgbClr val="2A2114"/>
          </a:solidFill>
          <a:ln cap="flat" cmpd="sng" w="12700">
            <a:solidFill>
              <a:srgbClr val="7A5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3"/>
          <p:cNvSpPr/>
          <p:nvPr/>
        </p:nvSpPr>
        <p:spPr>
          <a:xfrm>
            <a:off x="841248" y="4663440"/>
            <a:ext cx="960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454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B454"/>
                </a:solidFill>
                <a:latin typeface="Consolas"/>
                <a:ea typeface="Consolas"/>
                <a:cs typeface="Consolas"/>
                <a:sym typeface="Consolas"/>
              </a:rPr>
              <a:t>坑 14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/>
          <p:nvPr/>
        </p:nvSpPr>
        <p:spPr>
          <a:xfrm>
            <a:off x="2011680" y="4425696"/>
            <a:ext cx="9308592" cy="85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1300"/>
              <a:buFont typeface="Microsoft JhengHei"/>
              <a:buNone/>
            </a:pPr>
            <a:r>
              <a:rPr b="1" i="0" lang="en-US" sz="13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@BotFather 不是你的 bot</a:t>
            </a:r>
            <a:r>
              <a:rPr b="0" i="0" lang="en-US" sz="13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。它只是「註冊工具」。要去</a:t>
            </a:r>
            <a:r>
              <a:rPr b="0" i="0" lang="en-US" sz="1300" u="none" cap="none" strike="noStrike">
                <a:solidFill>
                  <a:srgbClr val="34D6B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你自己建的那個 bot</a:t>
            </a:r>
            <a:r>
              <a:rPr b="0" i="0" lang="en-US" sz="13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的對話框按 START，才會收到 Hermes 回應。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3"/>
          <p:cNvSpPr/>
          <p:nvPr/>
        </p:nvSpPr>
        <p:spPr>
          <a:xfrm>
            <a:off x="0" y="6812280"/>
            <a:ext cx="6705432" cy="45720"/>
          </a:xfrm>
          <a:prstGeom prst="rect">
            <a:avLst/>
          </a:prstGeom>
          <a:solidFill>
            <a:srgbClr val="34D6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3"/>
          <p:cNvSpPr/>
          <p:nvPr/>
        </p:nvSpPr>
        <p:spPr>
          <a:xfrm>
            <a:off x="10607040" y="641908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11 / 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6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4"/>
          <p:cNvSpPr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STAGE 03 / 03 · ⭐ 最高優先級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4"/>
          <p:cNvSpPr/>
          <p:nvPr/>
        </p:nvSpPr>
        <p:spPr>
          <a:xfrm>
            <a:off x="640080" y="2331720"/>
            <a:ext cx="109728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6400"/>
              <a:buFont typeface="Microsoft JhengHei"/>
              <a:buNone/>
            </a:pPr>
            <a:r>
              <a:rPr b="1" i="0" lang="en-US" sz="64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工作流哲學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4"/>
          <p:cNvSpPr/>
          <p:nvPr/>
        </p:nvSpPr>
        <p:spPr>
          <a:xfrm>
            <a:off x="640080" y="393192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800"/>
              <a:buFont typeface="Microsoft JhengHei"/>
              <a:buNone/>
            </a:pPr>
            <a:r>
              <a:rPr b="0" i="0" lang="en-US" sz="18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前面都是技術坑。這一段是心智模型坑——最容易讓人以為「系統壞了」。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4"/>
          <p:cNvSpPr/>
          <p:nvPr/>
        </p:nvSpPr>
        <p:spPr>
          <a:xfrm>
            <a:off x="640080" y="4846320"/>
            <a:ext cx="1316736" cy="384048"/>
          </a:xfrm>
          <a:prstGeom prst="roundRect">
            <a:avLst>
              <a:gd fmla="val 50000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4"/>
          <p:cNvSpPr/>
          <p:nvPr/>
        </p:nvSpPr>
        <p:spPr>
          <a:xfrm>
            <a:off x="640080" y="4846320"/>
            <a:ext cx="13167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AA6B2"/>
                </a:solidFill>
                <a:latin typeface="Consolas"/>
                <a:ea typeface="Consolas"/>
                <a:cs typeface="Consolas"/>
                <a:sym typeface="Consolas"/>
              </a:rPr>
              <a:t>踩坑 15–20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4"/>
          <p:cNvSpPr/>
          <p:nvPr/>
        </p:nvSpPr>
        <p:spPr>
          <a:xfrm>
            <a:off x="2121408" y="4846320"/>
            <a:ext cx="1188720" cy="384048"/>
          </a:xfrm>
          <a:prstGeom prst="roundRect">
            <a:avLst>
              <a:gd fmla="val 50000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4"/>
          <p:cNvSpPr/>
          <p:nvPr/>
        </p:nvSpPr>
        <p:spPr>
          <a:xfrm>
            <a:off x="2121408" y="4846320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AA6B2"/>
                </a:solidFill>
                <a:latin typeface="Consolas"/>
                <a:ea typeface="Consolas"/>
                <a:cs typeface="Consolas"/>
                <a:sym typeface="Consolas"/>
              </a:rPr>
              <a:t>觸發點＝回報點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4"/>
          <p:cNvSpPr/>
          <p:nvPr/>
        </p:nvSpPr>
        <p:spPr>
          <a:xfrm>
            <a:off x="3474720" y="4846320"/>
            <a:ext cx="2084832" cy="384048"/>
          </a:xfrm>
          <a:prstGeom prst="roundRect">
            <a:avLst>
              <a:gd fmla="val 50000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4"/>
          <p:cNvSpPr/>
          <p:nvPr/>
        </p:nvSpPr>
        <p:spPr>
          <a:xfrm>
            <a:off x="3474720" y="4846320"/>
            <a:ext cx="20848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AA6B2"/>
                </a:solidFill>
                <a:latin typeface="Consolas"/>
                <a:ea typeface="Consolas"/>
                <a:cs typeface="Consolas"/>
                <a:sym typeface="Consolas"/>
              </a:rPr>
              <a:t>對話 ＞ Dashboard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5724144" y="4846320"/>
            <a:ext cx="1956816" cy="384048"/>
          </a:xfrm>
          <a:prstGeom prst="roundRect">
            <a:avLst>
              <a:gd fmla="val 50000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4"/>
          <p:cNvSpPr/>
          <p:nvPr/>
        </p:nvSpPr>
        <p:spPr>
          <a:xfrm>
            <a:off x="5724144" y="4846320"/>
            <a:ext cx="195681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AA6B2"/>
                </a:solidFill>
                <a:latin typeface="Consolas"/>
                <a:ea typeface="Consolas"/>
                <a:cs typeface="Consolas"/>
                <a:sym typeface="Consolas"/>
              </a:rPr>
              <a:t>指定 API ≠ 叫它搜尋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4"/>
          <p:cNvSpPr/>
          <p:nvPr/>
        </p:nvSpPr>
        <p:spPr>
          <a:xfrm>
            <a:off x="0" y="6812280"/>
            <a:ext cx="7315017" cy="45720"/>
          </a:xfrm>
          <a:prstGeom prst="rect">
            <a:avLst/>
          </a:prstGeom>
          <a:solidFill>
            <a:srgbClr val="34D6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4"/>
          <p:cNvSpPr/>
          <p:nvPr/>
        </p:nvSpPr>
        <p:spPr>
          <a:xfrm>
            <a:off x="10607040" y="641908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12 / 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6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5"/>
          <p:cNvSpPr/>
          <p:nvPr/>
        </p:nvSpPr>
        <p:spPr>
          <a:xfrm>
            <a:off x="640080" y="585216"/>
            <a:ext cx="91440" cy="91440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5"/>
          <p:cNvSpPr/>
          <p:nvPr/>
        </p:nvSpPr>
        <p:spPr>
          <a:xfrm>
            <a:off x="822960" y="457200"/>
            <a:ext cx="10058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工作流哲學 · 最關鍵 ★★（坑 15 · 17）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5"/>
          <p:cNvSpPr/>
          <p:nvPr/>
        </p:nvSpPr>
        <p:spPr>
          <a:xfrm>
            <a:off x="640080" y="914400"/>
            <a:ext cx="10972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3200"/>
              <a:buFont typeface="Microsoft JhengHei"/>
              <a:buNone/>
            </a:pPr>
            <a:r>
              <a:rPr b="1" i="0" lang="en-US" sz="32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觸發點，決定回報點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5"/>
          <p:cNvSpPr/>
          <p:nvPr/>
        </p:nvSpPr>
        <p:spPr>
          <a:xfrm>
            <a:off x="640080" y="17373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400"/>
              <a:buFont typeface="Microsoft JhengHei"/>
              <a:buNone/>
            </a:pPr>
            <a:r>
              <a:rPr b="0" i="0" lang="en-US" sz="14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CRON 跑成功、Dashboard 綠燈，但 Telegram 收不到（</a:t>
            </a:r>
            <a:r>
              <a:rPr b="0" i="0" lang="en-US" sz="1400" u="none" cap="none" strike="noStrike">
                <a:solidFill>
                  <a:srgbClr val="6FB3FF"/>
                </a:solidFill>
                <a:latin typeface="Consolas"/>
                <a:ea typeface="Consolas"/>
                <a:cs typeface="Consolas"/>
                <a:sym typeface="Consolas"/>
              </a:rPr>
              <a:t>Chat not found</a:t>
            </a:r>
            <a:r>
              <a:rPr b="0" i="0" lang="en-US" sz="14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）。差別只在你從哪裡觸發。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5"/>
          <p:cNvSpPr/>
          <p:nvPr/>
        </p:nvSpPr>
        <p:spPr>
          <a:xfrm>
            <a:off x="640080" y="2240280"/>
            <a:ext cx="5175504" cy="2697480"/>
          </a:xfrm>
          <a:prstGeom prst="roundRect">
            <a:avLst>
              <a:gd fmla="val 2712" name="adj"/>
            </a:avLst>
          </a:prstGeom>
          <a:solidFill>
            <a:srgbClr val="1C1418"/>
          </a:solidFill>
          <a:ln cap="flat" cmpd="sng" w="12700">
            <a:solidFill>
              <a:srgbClr val="6E2A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5"/>
          <p:cNvSpPr/>
          <p:nvPr/>
        </p:nvSpPr>
        <p:spPr>
          <a:xfrm>
            <a:off x="6400800" y="2240280"/>
            <a:ext cx="5175504" cy="2697480"/>
          </a:xfrm>
          <a:prstGeom prst="roundRect">
            <a:avLst>
              <a:gd fmla="val 2712" name="adj"/>
            </a:avLst>
          </a:prstGeom>
          <a:solidFill>
            <a:srgbClr val="131D18"/>
          </a:solidFill>
          <a:ln cap="flat" cmpd="sng" w="12700">
            <a:solidFill>
              <a:srgbClr val="2A6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5"/>
          <p:cNvSpPr/>
          <p:nvPr/>
        </p:nvSpPr>
        <p:spPr>
          <a:xfrm>
            <a:off x="914400" y="244144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7185"/>
              </a:buClr>
              <a:buSzPts val="1700"/>
              <a:buFont typeface="Microsoft JhengHei"/>
              <a:buNone/>
            </a:pPr>
            <a:r>
              <a:rPr b="1" i="0" lang="en-US" sz="1700" u="none" cap="none" strike="noStrike">
                <a:solidFill>
                  <a:srgbClr val="FB718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反模式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5"/>
          <p:cNvSpPr/>
          <p:nvPr/>
        </p:nvSpPr>
        <p:spPr>
          <a:xfrm>
            <a:off x="6675120" y="244144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E08A"/>
              </a:buClr>
              <a:buSzPts val="1700"/>
              <a:buFont typeface="Microsoft JhengHei"/>
              <a:buNone/>
            </a:pPr>
            <a:r>
              <a:rPr b="1" i="0" lang="en-US" sz="1700" u="none" cap="none" strike="noStrike">
                <a:solidFill>
                  <a:srgbClr val="5BE08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正確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5"/>
          <p:cNvSpPr/>
          <p:nvPr/>
        </p:nvSpPr>
        <p:spPr>
          <a:xfrm>
            <a:off x="914400" y="2953512"/>
            <a:ext cx="4626864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9230"/>
              </a:lnSpc>
              <a:spcBef>
                <a:spcPts val="0"/>
              </a:spcBef>
              <a:spcAft>
                <a:spcPts val="0"/>
              </a:spcAft>
              <a:buClr>
                <a:srgbClr val="FB7185"/>
              </a:buClr>
              <a:buSzPts val="1300"/>
              <a:buFont typeface="Microsoft JhengHei"/>
              <a:buNone/>
            </a:pPr>
            <a:r>
              <a:rPr b="0" i="0" lang="en-US" sz="1300" u="none" cap="none" strike="noStrike">
                <a:solidFill>
                  <a:srgbClr val="FB718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✕  </a:t>
            </a:r>
            <a:r>
              <a:rPr b="0" i="0" lang="en-US" sz="13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建 CRON 用預設 deliver: telegram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9230"/>
              </a:lnSpc>
              <a:spcBef>
                <a:spcPts val="0"/>
              </a:spcBef>
              <a:spcAft>
                <a:spcPts val="0"/>
              </a:spcAft>
              <a:buClr>
                <a:srgbClr val="FB7185"/>
              </a:buClr>
              <a:buSzPts val="1300"/>
              <a:buFont typeface="Microsoft JhengHei"/>
              <a:buNone/>
            </a:pPr>
            <a:r>
              <a:rPr b="0" i="0" lang="en-US" sz="1300" u="none" cap="none" strike="noStrike">
                <a:solidFill>
                  <a:srgbClr val="FB718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✕  </a:t>
            </a:r>
            <a:r>
              <a:rPr b="0" i="0" lang="en-US" sz="13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早上自動跑 → 結果消失在 Home Channel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9230"/>
              </a:lnSpc>
              <a:spcBef>
                <a:spcPts val="0"/>
              </a:spcBef>
              <a:spcAft>
                <a:spcPts val="0"/>
              </a:spcAft>
              <a:buClr>
                <a:srgbClr val="FB7185"/>
              </a:buClr>
              <a:buSzPts val="1300"/>
              <a:buFont typeface="Microsoft JhengHei"/>
              <a:buNone/>
            </a:pPr>
            <a:r>
              <a:rPr b="0" i="0" lang="en-US" sz="1300" u="none" cap="none" strike="noStrike">
                <a:solidFill>
                  <a:srgbClr val="FB718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✕  </a:t>
            </a:r>
            <a:r>
              <a:rPr b="0" i="0" lang="en-US" sz="13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Dashboard 按 Run now → 一樣消失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9230"/>
              </a:lnSpc>
              <a:spcBef>
                <a:spcPts val="0"/>
              </a:spcBef>
              <a:spcAft>
                <a:spcPts val="0"/>
              </a:spcAft>
              <a:buClr>
                <a:srgbClr val="FB7185"/>
              </a:buClr>
              <a:buSzPts val="1300"/>
              <a:buFont typeface="Microsoft JhengHei"/>
              <a:buNone/>
            </a:pPr>
            <a:r>
              <a:rPr b="0" i="0" lang="en-US" sz="1300" u="none" cap="none" strike="noStrike">
                <a:solidFill>
                  <a:srgbClr val="FB718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✕  </a:t>
            </a:r>
            <a:r>
              <a:rPr b="0" i="0" lang="en-US" sz="13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以為系統壞了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5"/>
          <p:cNvSpPr/>
          <p:nvPr/>
        </p:nvSpPr>
        <p:spPr>
          <a:xfrm>
            <a:off x="6675120" y="2953512"/>
            <a:ext cx="4626864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9230"/>
              </a:lnSpc>
              <a:spcBef>
                <a:spcPts val="0"/>
              </a:spcBef>
              <a:spcAft>
                <a:spcPts val="0"/>
              </a:spcAft>
              <a:buClr>
                <a:srgbClr val="5BE08A"/>
              </a:buClr>
              <a:buSzPts val="1300"/>
              <a:buFont typeface="Microsoft JhengHei"/>
              <a:buNone/>
            </a:pPr>
            <a:r>
              <a:rPr b="0" i="0" lang="en-US" sz="1300" u="none" cap="none" strike="noStrike">
                <a:solidFill>
                  <a:srgbClr val="5BE08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✓  </a:t>
            </a:r>
            <a:r>
              <a:rPr b="0" i="0" lang="en-US" sz="13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建 CRON 時 deliver: origin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9230"/>
              </a:lnSpc>
              <a:spcBef>
                <a:spcPts val="0"/>
              </a:spcBef>
              <a:spcAft>
                <a:spcPts val="0"/>
              </a:spcAft>
              <a:buClr>
                <a:srgbClr val="5BE08A"/>
              </a:buClr>
              <a:buSzPts val="1300"/>
              <a:buFont typeface="Microsoft JhengHei"/>
              <a:buNone/>
            </a:pPr>
            <a:r>
              <a:rPr b="0" i="0" lang="en-US" sz="1300" u="none" cap="none" strike="noStrike">
                <a:solidFill>
                  <a:srgbClr val="5BE08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✓  </a:t>
            </a:r>
            <a:r>
              <a:rPr b="0" i="0" lang="en-US" sz="13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不管從哪觸發，都回到觸發點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9230"/>
              </a:lnSpc>
              <a:spcBef>
                <a:spcPts val="0"/>
              </a:spcBef>
              <a:spcAft>
                <a:spcPts val="0"/>
              </a:spcAft>
              <a:buClr>
                <a:srgbClr val="5BE08A"/>
              </a:buClr>
              <a:buSzPts val="1300"/>
              <a:buFont typeface="Microsoft JhengHei"/>
              <a:buNone/>
            </a:pPr>
            <a:r>
              <a:rPr b="0" i="0" lang="en-US" sz="1300" u="none" cap="none" strike="noStrike">
                <a:solidFill>
                  <a:srgbClr val="5BE08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✓  </a:t>
            </a:r>
            <a:r>
              <a:rPr b="0" i="0" lang="en-US" sz="13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想重跑 → 在 Telegram 對 bot 說「跑一下」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9230"/>
              </a:lnSpc>
              <a:spcBef>
                <a:spcPts val="0"/>
              </a:spcBef>
              <a:spcAft>
                <a:spcPts val="0"/>
              </a:spcAft>
              <a:buClr>
                <a:srgbClr val="5BE08A"/>
              </a:buClr>
              <a:buSzPts val="1300"/>
              <a:buFont typeface="Microsoft JhengHei"/>
              <a:buNone/>
            </a:pPr>
            <a:r>
              <a:rPr b="0" i="0" lang="en-US" sz="1300" u="none" cap="none" strike="noStrike">
                <a:solidFill>
                  <a:srgbClr val="5BE08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✓  </a:t>
            </a:r>
            <a:r>
              <a:rPr b="0" i="0" lang="en-US" sz="13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結果秒回到你眼前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5"/>
          <p:cNvSpPr/>
          <p:nvPr/>
        </p:nvSpPr>
        <p:spPr>
          <a:xfrm>
            <a:off x="640080" y="52120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＊ 對話觸發 = 執行 + 回報路徑自動設成當前對話，一氣呵成，最不會出錯。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5"/>
          <p:cNvSpPr/>
          <p:nvPr/>
        </p:nvSpPr>
        <p:spPr>
          <a:xfrm>
            <a:off x="0" y="6812280"/>
            <a:ext cx="7924602" cy="45720"/>
          </a:xfrm>
          <a:prstGeom prst="rect">
            <a:avLst/>
          </a:prstGeom>
          <a:solidFill>
            <a:srgbClr val="34D6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5"/>
          <p:cNvSpPr/>
          <p:nvPr/>
        </p:nvSpPr>
        <p:spPr>
          <a:xfrm>
            <a:off x="10607040" y="641908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13 / 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6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6"/>
          <p:cNvSpPr/>
          <p:nvPr/>
        </p:nvSpPr>
        <p:spPr>
          <a:xfrm>
            <a:off x="640080" y="585216"/>
            <a:ext cx="91440" cy="91440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6"/>
          <p:cNvSpPr/>
          <p:nvPr/>
        </p:nvSpPr>
        <p:spPr>
          <a:xfrm>
            <a:off x="822960" y="457200"/>
            <a:ext cx="10058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工作流哲學 · 心智模型（坑 18 · 19）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6"/>
          <p:cNvSpPr/>
          <p:nvPr/>
        </p:nvSpPr>
        <p:spPr>
          <a:xfrm>
            <a:off x="640080" y="914400"/>
            <a:ext cx="10972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3200"/>
              <a:buFont typeface="Microsoft JhengHei"/>
              <a:buNone/>
            </a:pPr>
            <a:r>
              <a:rPr b="1" i="0" lang="en-US" sz="32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對話是主軸，</a:t>
            </a:r>
            <a:r>
              <a:rPr b="1" i="0" lang="en-US" sz="3200" u="none" cap="none" strike="noStrike">
                <a:solidFill>
                  <a:srgbClr val="34D6B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Dashboard 是儀表板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6"/>
          <p:cNvSpPr/>
          <p:nvPr/>
        </p:nvSpPr>
        <p:spPr>
          <a:xfrm>
            <a:off x="640080" y="1783080"/>
            <a:ext cx="5330952" cy="2331720"/>
          </a:xfrm>
          <a:prstGeom prst="roundRect">
            <a:avLst>
              <a:gd fmla="val 3137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6"/>
          <p:cNvSpPr/>
          <p:nvPr/>
        </p:nvSpPr>
        <p:spPr>
          <a:xfrm>
            <a:off x="896112" y="1965960"/>
            <a:ext cx="48737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6BE"/>
              </a:buClr>
              <a:buSzPts val="1700"/>
              <a:buFont typeface="Microsoft JhengHei"/>
              <a:buNone/>
            </a:pPr>
            <a:r>
              <a:rPr b="1" i="0" lang="en-US" sz="1700" u="none" cap="none" strike="noStrike">
                <a:solidFill>
                  <a:srgbClr val="34D6B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用「對話」做日常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6"/>
          <p:cNvSpPr/>
          <p:nvPr/>
        </p:nvSpPr>
        <p:spPr>
          <a:xfrm>
            <a:off x="896112" y="2468880"/>
            <a:ext cx="4873752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300"/>
              <a:buFont typeface="Microsoft JhengHei"/>
              <a:buNone/>
            </a:pPr>
            <a:r>
              <a:rPr b="0" i="0" lang="en-US" sz="13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新增 CRON →「幫我設一個每天 9 點…」</a:t>
            </a:r>
            <a:br>
              <a:rPr b="0" i="0" lang="en-US" sz="13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b="0" i="0" lang="en-US" sz="13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改設定 →「把時間改成晚上 10 點」</a:t>
            </a:r>
            <a:br>
              <a:rPr b="0" i="0" lang="en-US" sz="13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b="0" i="0" lang="en-US" sz="13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看狀態 →「我的 CRON 有哪些？」</a:t>
            </a:r>
            <a:br>
              <a:rPr b="0" i="0" lang="en-US" sz="13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b="0" i="0" lang="en-US" sz="13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砍任務 →「砍掉 daily-ai-news」</a:t>
            </a:r>
            <a:br>
              <a:rPr b="0" i="0" lang="en-US" sz="13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b="0" i="0" lang="en-US" sz="1300" u="none" cap="none" strike="noStrike">
                <a:solidFill>
                  <a:srgbClr val="34D6B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Agent 自己呼叫工具，比手動點還快還準。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6"/>
          <p:cNvSpPr/>
          <p:nvPr/>
        </p:nvSpPr>
        <p:spPr>
          <a:xfrm>
            <a:off x="6217920" y="1783080"/>
            <a:ext cx="5330952" cy="2331720"/>
          </a:xfrm>
          <a:prstGeom prst="roundRect">
            <a:avLst>
              <a:gd fmla="val 3137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6"/>
          <p:cNvSpPr/>
          <p:nvPr/>
        </p:nvSpPr>
        <p:spPr>
          <a:xfrm>
            <a:off x="6473952" y="1965960"/>
            <a:ext cx="48737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1700"/>
              <a:buFont typeface="Microsoft JhengHei"/>
              <a:buNone/>
            </a:pPr>
            <a:r>
              <a:rPr b="1" i="0" lang="en-US" sz="17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Dashboard 只用在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6"/>
          <p:cNvSpPr/>
          <p:nvPr/>
        </p:nvSpPr>
        <p:spPr>
          <a:xfrm>
            <a:off x="6473952" y="2468880"/>
            <a:ext cx="4873752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300"/>
              <a:buFont typeface="Microsoft JhengHei"/>
              <a:buNone/>
            </a:pPr>
            <a:r>
              <a:rPr b="0" i="0" lang="en-US" sz="13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第一次裝完的基礎配置</a:t>
            </a:r>
            <a:br>
              <a:rPr b="0" i="0" lang="en-US" sz="13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b="0" i="0" lang="en-US" sz="13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視覺化看任務清單與執行歷史</a:t>
            </a:r>
            <a:br>
              <a:rPr b="0" i="0" lang="en-US" sz="13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b="0" i="0" lang="en-US" sz="13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偵錯時看詳細 log</a:t>
            </a:r>
            <a:br>
              <a:rPr b="0" i="0" lang="en-US" sz="13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b="1" i="0" lang="en-US" sz="13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不適合日常操作、觸發、改參數。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6"/>
          <p:cNvSpPr/>
          <p:nvPr/>
        </p:nvSpPr>
        <p:spPr>
          <a:xfrm>
            <a:off x="640080" y="4343400"/>
            <a:ext cx="54864" cy="68580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6"/>
          <p:cNvSpPr/>
          <p:nvPr/>
        </p:nvSpPr>
        <p:spPr>
          <a:xfrm>
            <a:off x="914400" y="4370832"/>
            <a:ext cx="10424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1600"/>
              <a:buFont typeface="Microsoft JhengHei"/>
              <a:buNone/>
            </a:pPr>
            <a:r>
              <a:rPr b="1" i="0" lang="en-US" sz="16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經驗法則：</a:t>
            </a:r>
            <a:r>
              <a:rPr b="0" i="0" lang="en-US" sz="1600" u="none" cap="none" strike="noStrike">
                <a:solidFill>
                  <a:srgbClr val="FFB45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Dashboard 點按鈕點到第三次還沒成功 —— 停下來，打開 Telegram，用講的。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6"/>
          <p:cNvSpPr/>
          <p:nvPr/>
        </p:nvSpPr>
        <p:spPr>
          <a:xfrm>
            <a:off x="640080" y="51663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＊ 坑 19：Dashboard 的「傳送至」下拉根本沒有 origin 選項，只能用對話建。Agent 用工具的能力 ⊃ Dashboard UI。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6"/>
          <p:cNvSpPr/>
          <p:nvPr/>
        </p:nvSpPr>
        <p:spPr>
          <a:xfrm>
            <a:off x="0" y="6812280"/>
            <a:ext cx="8534187" cy="45720"/>
          </a:xfrm>
          <a:prstGeom prst="rect">
            <a:avLst/>
          </a:prstGeom>
          <a:solidFill>
            <a:srgbClr val="34D6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6"/>
          <p:cNvSpPr/>
          <p:nvPr/>
        </p:nvSpPr>
        <p:spPr>
          <a:xfrm>
            <a:off x="10607040" y="641908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14 / 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6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7"/>
          <p:cNvSpPr/>
          <p:nvPr/>
        </p:nvSpPr>
        <p:spPr>
          <a:xfrm>
            <a:off x="640080" y="585216"/>
            <a:ext cx="91440" cy="91440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7"/>
          <p:cNvSpPr/>
          <p:nvPr/>
        </p:nvSpPr>
        <p:spPr>
          <a:xfrm>
            <a:off x="822960" y="457200"/>
            <a:ext cx="10058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工作流哲學 · 資料可信度（坑 16 · 20）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7"/>
          <p:cNvSpPr/>
          <p:nvPr/>
        </p:nvSpPr>
        <p:spPr>
          <a:xfrm>
            <a:off x="640080" y="914400"/>
            <a:ext cx="10972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3200"/>
              <a:buFont typeface="Microsoft JhengHei"/>
              <a:buNone/>
            </a:pPr>
            <a:r>
              <a:rPr b="1" i="0" lang="en-US" sz="32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指定 </a:t>
            </a:r>
            <a:r>
              <a:rPr b="1" i="0" lang="en-US" sz="3200" u="none" cap="none" strike="noStrike">
                <a:solidFill>
                  <a:srgbClr val="6FB3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API</a:t>
            </a:r>
            <a:r>
              <a:rPr b="1" i="0" lang="en-US" sz="32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，別叫它「</a:t>
            </a:r>
            <a:r>
              <a:rPr b="1" i="0" lang="en-US" sz="3200" u="none" cap="none" strike="noStrike">
                <a:solidFill>
                  <a:srgbClr val="FB718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搜尋網路</a:t>
            </a:r>
            <a:r>
              <a:rPr b="1" i="0" lang="en-US" sz="32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」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7"/>
          <p:cNvSpPr/>
          <p:nvPr/>
        </p:nvSpPr>
        <p:spPr>
          <a:xfrm>
            <a:off x="640080" y="1783080"/>
            <a:ext cx="5175504" cy="2697480"/>
          </a:xfrm>
          <a:prstGeom prst="roundRect">
            <a:avLst>
              <a:gd fmla="val 2712" name="adj"/>
            </a:avLst>
          </a:prstGeom>
          <a:solidFill>
            <a:srgbClr val="1C1418"/>
          </a:solidFill>
          <a:ln cap="flat" cmpd="sng" w="12700">
            <a:solidFill>
              <a:srgbClr val="6E2A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7"/>
          <p:cNvSpPr/>
          <p:nvPr/>
        </p:nvSpPr>
        <p:spPr>
          <a:xfrm>
            <a:off x="6400800" y="1783080"/>
            <a:ext cx="5175504" cy="2697480"/>
          </a:xfrm>
          <a:prstGeom prst="roundRect">
            <a:avLst>
              <a:gd fmla="val 2712" name="adj"/>
            </a:avLst>
          </a:prstGeom>
          <a:solidFill>
            <a:srgbClr val="131D18"/>
          </a:solidFill>
          <a:ln cap="flat" cmpd="sng" w="12700">
            <a:solidFill>
              <a:srgbClr val="2A6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7"/>
          <p:cNvSpPr/>
          <p:nvPr/>
        </p:nvSpPr>
        <p:spPr>
          <a:xfrm>
            <a:off x="914400" y="198424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7185"/>
              </a:buClr>
              <a:buSzPts val="1700"/>
              <a:buFont typeface="Microsoft JhengHei"/>
              <a:buNone/>
            </a:pPr>
            <a:r>
              <a:rPr b="1" i="0" lang="en-US" sz="1700" u="none" cap="none" strike="noStrike">
                <a:solidFill>
                  <a:srgbClr val="FB718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會編造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7"/>
          <p:cNvSpPr/>
          <p:nvPr/>
        </p:nvSpPr>
        <p:spPr>
          <a:xfrm>
            <a:off x="6675120" y="198424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E08A"/>
              </a:buClr>
              <a:buSzPts val="1700"/>
              <a:buFont typeface="Microsoft JhengHei"/>
              <a:buNone/>
            </a:pPr>
            <a:r>
              <a:rPr b="1" i="0" lang="en-US" sz="1700" u="none" cap="none" strike="noStrike">
                <a:solidFill>
                  <a:srgbClr val="5BE08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真實可信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7"/>
          <p:cNvSpPr/>
          <p:nvPr/>
        </p:nvSpPr>
        <p:spPr>
          <a:xfrm>
            <a:off x="914400" y="2496312"/>
            <a:ext cx="4626864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9230"/>
              </a:lnSpc>
              <a:spcBef>
                <a:spcPts val="0"/>
              </a:spcBef>
              <a:spcAft>
                <a:spcPts val="0"/>
              </a:spcAft>
              <a:buClr>
                <a:srgbClr val="FB7185"/>
              </a:buClr>
              <a:buSzPts val="1300"/>
              <a:buFont typeface="Microsoft JhengHei"/>
              <a:buNone/>
            </a:pPr>
            <a:r>
              <a:rPr b="0" i="0" lang="en-US" sz="1300" u="none" cap="none" strike="noStrike">
                <a:solidFill>
                  <a:srgbClr val="FB718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✕  </a:t>
            </a:r>
            <a:r>
              <a:rPr b="0" i="0" lang="en-US" sz="13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「請搜尋網路上有沒有 X 的最新消息」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9230"/>
              </a:lnSpc>
              <a:spcBef>
                <a:spcPts val="0"/>
              </a:spcBef>
              <a:spcAft>
                <a:spcPts val="0"/>
              </a:spcAft>
              <a:buClr>
                <a:srgbClr val="FB7185"/>
              </a:buClr>
              <a:buSzPts val="1300"/>
              <a:buFont typeface="Microsoft JhengHei"/>
              <a:buNone/>
            </a:pPr>
            <a:r>
              <a:rPr b="0" i="0" lang="en-US" sz="1300" u="none" cap="none" strike="noStrike">
                <a:solidFill>
                  <a:srgbClr val="FB718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✕  </a:t>
            </a:r>
            <a:r>
              <a:rPr b="0" i="0" lang="en-US" sz="13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Gemini Flash 沒 browser web search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9230"/>
              </a:lnSpc>
              <a:spcBef>
                <a:spcPts val="0"/>
              </a:spcBef>
              <a:spcAft>
                <a:spcPts val="0"/>
              </a:spcAft>
              <a:buClr>
                <a:srgbClr val="FB7185"/>
              </a:buClr>
              <a:buSzPts val="1300"/>
              <a:buFont typeface="Microsoft JhengHei"/>
              <a:buNone/>
            </a:pPr>
            <a:r>
              <a:rPr b="0" i="0" lang="en-US" sz="1300" u="none" cap="none" strike="noStrike">
                <a:solidFill>
                  <a:srgbClr val="FB718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✕  </a:t>
            </a:r>
            <a:r>
              <a:rPr b="0" i="0" lang="en-US" sz="13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會用未來式語氣瞎掰、捏造 URL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7"/>
          <p:cNvSpPr/>
          <p:nvPr/>
        </p:nvSpPr>
        <p:spPr>
          <a:xfrm>
            <a:off x="6675120" y="2496312"/>
            <a:ext cx="4626864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9230"/>
              </a:lnSpc>
              <a:spcBef>
                <a:spcPts val="0"/>
              </a:spcBef>
              <a:spcAft>
                <a:spcPts val="0"/>
              </a:spcAft>
              <a:buClr>
                <a:srgbClr val="5BE08A"/>
              </a:buClr>
              <a:buSzPts val="1300"/>
              <a:buFont typeface="Microsoft JhengHei"/>
              <a:buNone/>
            </a:pPr>
            <a:r>
              <a:rPr b="0" i="0" lang="en-US" sz="1300" u="none" cap="none" strike="noStrike">
                <a:solidFill>
                  <a:srgbClr val="5BE08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✓  </a:t>
            </a:r>
            <a:r>
              <a:rPr b="0" i="0" lang="en-US" sz="13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「請呼叫 X API，參數 Y，整理結果給我」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9230"/>
              </a:lnSpc>
              <a:spcBef>
                <a:spcPts val="0"/>
              </a:spcBef>
              <a:spcAft>
                <a:spcPts val="0"/>
              </a:spcAft>
              <a:buClr>
                <a:srgbClr val="5BE08A"/>
              </a:buClr>
              <a:buSzPts val="1300"/>
              <a:buFont typeface="Microsoft JhengHei"/>
              <a:buNone/>
            </a:pPr>
            <a:r>
              <a:rPr b="0" i="0" lang="en-US" sz="1300" u="none" cap="none" strike="noStrike">
                <a:solidFill>
                  <a:srgbClr val="5BE08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✓  </a:t>
            </a:r>
            <a:r>
              <a:rPr b="0" i="0" lang="en-US" sz="13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Hermes 能直接 curl／Python 打 API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9230"/>
              </a:lnSpc>
              <a:spcBef>
                <a:spcPts val="0"/>
              </a:spcBef>
              <a:spcAft>
                <a:spcPts val="0"/>
              </a:spcAft>
              <a:buClr>
                <a:srgbClr val="5BE08A"/>
              </a:buClr>
              <a:buSzPts val="1300"/>
              <a:buFont typeface="Microsoft JhengHei"/>
              <a:buNone/>
            </a:pPr>
            <a:r>
              <a:rPr b="0" i="0" lang="en-US" sz="1300" u="none" cap="none" strike="noStrike">
                <a:solidFill>
                  <a:srgbClr val="5BE08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✓  </a:t>
            </a:r>
            <a:r>
              <a:rPr b="0" i="0" lang="en-US" sz="13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PubMed、arXiv 直連驗證 100% 為真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7"/>
          <p:cNvSpPr/>
          <p:nvPr/>
        </p:nvSpPr>
        <p:spPr>
          <a:xfrm>
            <a:off x="640080" y="4754880"/>
            <a:ext cx="54864" cy="1005840"/>
          </a:xfrm>
          <a:prstGeom prst="rect">
            <a:avLst/>
          </a:prstGeom>
          <a:solidFill>
            <a:srgbClr val="34D6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7"/>
          <p:cNvSpPr/>
          <p:nvPr/>
        </p:nvSpPr>
        <p:spPr>
          <a:xfrm>
            <a:off x="914400" y="4800600"/>
            <a:ext cx="10424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1600"/>
              <a:buFont typeface="Microsoft JhengHei"/>
              <a:buNone/>
            </a:pPr>
            <a:r>
              <a:rPr b="1" i="0" lang="en-US" sz="16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坑 20 起手式：</a:t>
            </a:r>
            <a:r>
              <a:rPr b="0" i="0" lang="en-US" sz="16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先讓 Agent </a:t>
            </a:r>
            <a:r>
              <a:rPr b="1" i="0" lang="en-US" sz="1600" u="none" cap="none" strike="noStrike">
                <a:solidFill>
                  <a:srgbClr val="34D6B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自我盤點</a:t>
            </a:r>
            <a:r>
              <a:rPr b="0" i="0" lang="en-US" sz="16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——「逐項</a:t>
            </a:r>
            <a:r>
              <a:rPr b="1" i="0" lang="en-US" sz="16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真的試一次</a:t>
            </a:r>
            <a:r>
              <a:rPr b="0" i="0" lang="en-US" sz="16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工具，不能說『理論上可以』」。</a:t>
            </a:r>
            <a:r>
              <a:rPr b="0" i="0" lang="en-US" sz="1600" u="none" cap="none" strike="noStrike">
                <a:solidFill>
                  <a:srgbClr val="FFB45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 分鐘抵 2 小時的猜測。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7"/>
          <p:cNvSpPr/>
          <p:nvPr/>
        </p:nvSpPr>
        <p:spPr>
          <a:xfrm>
            <a:off x="0" y="6812280"/>
            <a:ext cx="9143771" cy="45720"/>
          </a:xfrm>
          <a:prstGeom prst="rect">
            <a:avLst/>
          </a:prstGeom>
          <a:solidFill>
            <a:srgbClr val="34D6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7"/>
          <p:cNvSpPr/>
          <p:nvPr/>
        </p:nvSpPr>
        <p:spPr>
          <a:xfrm>
            <a:off x="10607040" y="641908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15 / 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6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8"/>
          <p:cNvSpPr/>
          <p:nvPr/>
        </p:nvSpPr>
        <p:spPr>
          <a:xfrm>
            <a:off x="640080" y="585216"/>
            <a:ext cx="91440" cy="91440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8"/>
          <p:cNvSpPr/>
          <p:nvPr/>
        </p:nvSpPr>
        <p:spPr>
          <a:xfrm>
            <a:off x="822960" y="457200"/>
            <a:ext cx="10058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迷思澄清 · 把三個直覺翻過來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8"/>
          <p:cNvSpPr/>
          <p:nvPr/>
        </p:nvSpPr>
        <p:spPr>
          <a:xfrm>
            <a:off x="640080" y="914400"/>
            <a:ext cx="10972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3200"/>
              <a:buFont typeface="Microsoft JhengHei"/>
              <a:buNone/>
            </a:pPr>
            <a:r>
              <a:rPr b="1" i="0" lang="en-US" sz="32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三個最容易踩的直覺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8"/>
          <p:cNvSpPr/>
          <p:nvPr/>
        </p:nvSpPr>
        <p:spPr>
          <a:xfrm>
            <a:off x="640080" y="2011680"/>
            <a:ext cx="3456432" cy="3108960"/>
          </a:xfrm>
          <a:prstGeom prst="roundRect">
            <a:avLst>
              <a:gd fmla="val 2353" name="adj"/>
            </a:avLst>
          </a:prstGeom>
          <a:solidFill>
            <a:srgbClr val="151A21"/>
          </a:solidFill>
          <a:ln cap="flat" cmpd="sng" w="12700">
            <a:solidFill>
              <a:srgbClr val="6E2A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8"/>
          <p:cNvSpPr/>
          <p:nvPr/>
        </p:nvSpPr>
        <p:spPr>
          <a:xfrm>
            <a:off x="896112" y="2286000"/>
            <a:ext cx="294436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FB7185"/>
              </a:buClr>
              <a:buSzPts val="1600"/>
              <a:buFont typeface="Microsoft JhengHei"/>
              <a:buNone/>
            </a:pPr>
            <a:r>
              <a:rPr b="1" i="0" lang="en-US" sz="1600" u="none" cap="none" strike="noStrike">
                <a:solidFill>
                  <a:srgbClr val="FB718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✕  </a:t>
            </a:r>
            <a:r>
              <a:rPr b="1" i="0" lang="en-US" sz="16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裝 agent ＝ pip install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8"/>
          <p:cNvSpPr/>
          <p:nvPr/>
        </p:nvSpPr>
        <p:spPr>
          <a:xfrm>
            <a:off x="896112" y="3429000"/>
            <a:ext cx="2944368" cy="10973"/>
          </a:xfrm>
          <a:prstGeom prst="rect">
            <a:avLst/>
          </a:prstGeom>
          <a:solidFill>
            <a:srgbClr val="2A33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8"/>
          <p:cNvSpPr/>
          <p:nvPr/>
        </p:nvSpPr>
        <p:spPr>
          <a:xfrm>
            <a:off x="896112" y="3611880"/>
            <a:ext cx="294436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5BE08A"/>
              </a:buClr>
              <a:buSzPts val="1350"/>
              <a:buFont typeface="Microsoft JhengHei"/>
              <a:buNone/>
            </a:pPr>
            <a:r>
              <a:rPr b="1" i="0" lang="en-US" sz="1350" u="none" cap="none" strike="noStrike">
                <a:solidFill>
                  <a:srgbClr val="5BE08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✓  </a:t>
            </a:r>
            <a:r>
              <a:rPr b="0" i="0" lang="en-US" sz="135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Windows 上走官方 PowerShell 腳本，一行把環境全裝齊。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8"/>
          <p:cNvSpPr/>
          <p:nvPr/>
        </p:nvSpPr>
        <p:spPr>
          <a:xfrm>
            <a:off x="4370832" y="2011680"/>
            <a:ext cx="3456432" cy="3108960"/>
          </a:xfrm>
          <a:prstGeom prst="roundRect">
            <a:avLst>
              <a:gd fmla="val 2353" name="adj"/>
            </a:avLst>
          </a:prstGeom>
          <a:solidFill>
            <a:srgbClr val="151A21"/>
          </a:solidFill>
          <a:ln cap="flat" cmpd="sng" w="12700">
            <a:solidFill>
              <a:srgbClr val="6E2A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8"/>
          <p:cNvSpPr/>
          <p:nvPr/>
        </p:nvSpPr>
        <p:spPr>
          <a:xfrm>
            <a:off x="4626864" y="2286000"/>
            <a:ext cx="294436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FB7185"/>
              </a:buClr>
              <a:buSzPts val="1600"/>
              <a:buFont typeface="Microsoft JhengHei"/>
              <a:buNone/>
            </a:pPr>
            <a:r>
              <a:rPr b="1" i="0" lang="en-US" sz="1600" u="none" cap="none" strike="noStrike">
                <a:solidFill>
                  <a:srgbClr val="FB718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✕  </a:t>
            </a:r>
            <a:r>
              <a:rPr b="1" i="0" lang="en-US" sz="16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改 Main Model 就改完了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8"/>
          <p:cNvSpPr/>
          <p:nvPr/>
        </p:nvSpPr>
        <p:spPr>
          <a:xfrm>
            <a:off x="4626864" y="3429000"/>
            <a:ext cx="2944368" cy="10973"/>
          </a:xfrm>
          <a:prstGeom prst="rect">
            <a:avLst/>
          </a:prstGeom>
          <a:solidFill>
            <a:srgbClr val="2A33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8"/>
          <p:cNvSpPr/>
          <p:nvPr/>
        </p:nvSpPr>
        <p:spPr>
          <a:xfrm>
            <a:off x="4626864" y="3611880"/>
            <a:ext cx="294436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5BE08A"/>
              </a:buClr>
              <a:buSzPts val="1350"/>
              <a:buFont typeface="Microsoft JhengHei"/>
              <a:buNone/>
            </a:pPr>
            <a:r>
              <a:rPr b="1" i="0" lang="en-US" sz="1350" u="none" cap="none" strike="noStrike">
                <a:solidFill>
                  <a:srgbClr val="5BE08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✓  </a:t>
            </a:r>
            <a:r>
              <a:rPr b="0" i="0" lang="en-US" sz="135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還有 11 項 Auxiliary ＋ Profile ＋ CRON 快照，四層都要落實。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8"/>
          <p:cNvSpPr/>
          <p:nvPr/>
        </p:nvSpPr>
        <p:spPr>
          <a:xfrm>
            <a:off x="8101584" y="2011680"/>
            <a:ext cx="3456432" cy="3108960"/>
          </a:xfrm>
          <a:prstGeom prst="roundRect">
            <a:avLst>
              <a:gd fmla="val 2353" name="adj"/>
            </a:avLst>
          </a:prstGeom>
          <a:solidFill>
            <a:srgbClr val="151A21"/>
          </a:solidFill>
          <a:ln cap="flat" cmpd="sng" w="12700">
            <a:solidFill>
              <a:srgbClr val="6E2A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8"/>
          <p:cNvSpPr/>
          <p:nvPr/>
        </p:nvSpPr>
        <p:spPr>
          <a:xfrm>
            <a:off x="8357616" y="2286000"/>
            <a:ext cx="294436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FB7185"/>
              </a:buClr>
              <a:buSzPts val="1600"/>
              <a:buFont typeface="Microsoft JhengHei"/>
              <a:buNone/>
            </a:pPr>
            <a:r>
              <a:rPr b="1" i="0" lang="en-US" sz="1600" u="none" cap="none" strike="noStrike">
                <a:solidFill>
                  <a:srgbClr val="FB718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✕  </a:t>
            </a:r>
            <a:r>
              <a:rPr b="1" i="0" lang="en-US" sz="16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它是 SaaS，用 Dashboard 操作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8"/>
          <p:cNvSpPr/>
          <p:nvPr/>
        </p:nvSpPr>
        <p:spPr>
          <a:xfrm>
            <a:off x="8357616" y="3429000"/>
            <a:ext cx="2944368" cy="10973"/>
          </a:xfrm>
          <a:prstGeom prst="rect">
            <a:avLst/>
          </a:prstGeom>
          <a:solidFill>
            <a:srgbClr val="2A33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8"/>
          <p:cNvSpPr/>
          <p:nvPr/>
        </p:nvSpPr>
        <p:spPr>
          <a:xfrm>
            <a:off x="8357616" y="3611880"/>
            <a:ext cx="294436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5BE08A"/>
              </a:buClr>
              <a:buSzPts val="1350"/>
              <a:buFont typeface="Microsoft JhengHei"/>
              <a:buNone/>
            </a:pPr>
            <a:r>
              <a:rPr b="1" i="0" lang="en-US" sz="1350" u="none" cap="none" strike="noStrike">
                <a:solidFill>
                  <a:srgbClr val="5BE08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✓  </a:t>
            </a:r>
            <a:r>
              <a:rPr b="0" i="0" lang="en-US" sz="135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它是會用工具的 Agent，用講的最有效。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8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8"/>
          <p:cNvSpPr/>
          <p:nvPr/>
        </p:nvSpPr>
        <p:spPr>
          <a:xfrm>
            <a:off x="0" y="6812280"/>
            <a:ext cx="9753356" cy="45720"/>
          </a:xfrm>
          <a:prstGeom prst="rect">
            <a:avLst/>
          </a:prstGeom>
          <a:solidFill>
            <a:srgbClr val="34D6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8"/>
          <p:cNvSpPr/>
          <p:nvPr/>
        </p:nvSpPr>
        <p:spPr>
          <a:xfrm>
            <a:off x="10607040" y="641908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16 / 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6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9"/>
          <p:cNvSpPr/>
          <p:nvPr/>
        </p:nvSpPr>
        <p:spPr>
          <a:xfrm>
            <a:off x="640080" y="585216"/>
            <a:ext cx="91440" cy="91440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9"/>
          <p:cNvSpPr/>
          <p:nvPr/>
        </p:nvSpPr>
        <p:spPr>
          <a:xfrm>
            <a:off x="822960" y="457200"/>
            <a:ext cx="10058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成果 · 最終可用配置（2026-05-26）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9"/>
          <p:cNvSpPr/>
          <p:nvPr/>
        </p:nvSpPr>
        <p:spPr>
          <a:xfrm>
            <a:off x="640080" y="914400"/>
            <a:ext cx="10972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3200"/>
              <a:buFont typeface="Microsoft JhengHei"/>
              <a:buNone/>
            </a:pPr>
            <a:r>
              <a:rPr b="1" i="0" lang="en-US" sz="32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跑得起來的長這樣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9"/>
          <p:cNvSpPr/>
          <p:nvPr/>
        </p:nvSpPr>
        <p:spPr>
          <a:xfrm>
            <a:off x="640080" y="1783080"/>
            <a:ext cx="5330952" cy="1783080"/>
          </a:xfrm>
          <a:prstGeom prst="roundRect">
            <a:avLst>
              <a:gd fmla="val 4103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9"/>
          <p:cNvSpPr/>
          <p:nvPr/>
        </p:nvSpPr>
        <p:spPr>
          <a:xfrm>
            <a:off x="896112" y="1947672"/>
            <a:ext cx="48737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1600"/>
              <a:buFont typeface="Microsoft JhengHei"/>
              <a:buNone/>
            </a:pPr>
            <a:r>
              <a:rPr b="1" i="0" lang="en-US" sz="16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模型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9"/>
          <p:cNvSpPr/>
          <p:nvPr/>
        </p:nvSpPr>
        <p:spPr>
          <a:xfrm>
            <a:off x="896112" y="2404872"/>
            <a:ext cx="487375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AA6B2"/>
                </a:solidFill>
                <a:latin typeface="Consolas"/>
                <a:ea typeface="Consolas"/>
                <a:cs typeface="Consolas"/>
                <a:sym typeface="Consolas"/>
              </a:rPr>
              <a:t>Main：google/gemini-3-flash-preview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AA6B2"/>
                </a:solidFill>
                <a:latin typeface="Consolas"/>
                <a:ea typeface="Consolas"/>
                <a:cs typeface="Consolas"/>
                <a:sym typeface="Consolas"/>
              </a:rPr>
              <a:t>Auxiliary：11 項全 override 為 Gemini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AA6B2"/>
                </a:solidFill>
                <a:latin typeface="Consolas"/>
                <a:ea typeface="Consolas"/>
                <a:cs typeface="Consolas"/>
                <a:sym typeface="Consolas"/>
              </a:rPr>
              <a:t>Profile：default 設 Gemini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9"/>
          <p:cNvSpPr/>
          <p:nvPr/>
        </p:nvSpPr>
        <p:spPr>
          <a:xfrm>
            <a:off x="6217920" y="1783080"/>
            <a:ext cx="5330952" cy="1783080"/>
          </a:xfrm>
          <a:prstGeom prst="roundRect">
            <a:avLst>
              <a:gd fmla="val 4103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9"/>
          <p:cNvSpPr/>
          <p:nvPr/>
        </p:nvSpPr>
        <p:spPr>
          <a:xfrm>
            <a:off x="6473952" y="1947672"/>
            <a:ext cx="48737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1600"/>
              <a:buFont typeface="Microsoft JhengHei"/>
              <a:buNone/>
            </a:pPr>
            <a:r>
              <a:rPr b="1" i="0" lang="en-US" sz="16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Telegram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9"/>
          <p:cNvSpPr/>
          <p:nvPr/>
        </p:nvSpPr>
        <p:spPr>
          <a:xfrm>
            <a:off x="6473952" y="2404872"/>
            <a:ext cx="487375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AA6B2"/>
                </a:solidFill>
                <a:latin typeface="Consolas"/>
                <a:ea typeface="Consolas"/>
                <a:cs typeface="Consolas"/>
                <a:sym typeface="Consolas"/>
              </a:rPr>
              <a:t>Bot：KT Chu bot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AA6B2"/>
                </a:solidFill>
                <a:latin typeface="Consolas"/>
                <a:ea typeface="Consolas"/>
                <a:cs typeface="Consolas"/>
                <a:sym typeface="Consolas"/>
              </a:rPr>
              <a:t>Allowed user：個人 user ID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AA6B2"/>
                </a:solidFill>
                <a:latin typeface="Consolas"/>
                <a:ea typeface="Consolas"/>
                <a:cs typeface="Consolas"/>
                <a:sym typeface="Consolas"/>
              </a:rPr>
              <a:t>回報路徑：優先 origin（非 Home Channel）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9"/>
          <p:cNvSpPr/>
          <p:nvPr/>
        </p:nvSpPr>
        <p:spPr>
          <a:xfrm>
            <a:off x="640080" y="3794760"/>
            <a:ext cx="10908792" cy="2240280"/>
          </a:xfrm>
          <a:prstGeom prst="roundRect">
            <a:avLst>
              <a:gd fmla="val 3265" name="adj"/>
            </a:avLst>
          </a:prstGeom>
          <a:solidFill>
            <a:srgbClr val="131D18"/>
          </a:solidFill>
          <a:ln cap="flat" cmpd="sng" w="12700">
            <a:solidFill>
              <a:srgbClr val="2A6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9"/>
          <p:cNvSpPr/>
          <p:nvPr/>
        </p:nvSpPr>
        <p:spPr>
          <a:xfrm>
            <a:off x="914400" y="3977640"/>
            <a:ext cx="10332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E08A"/>
              </a:buClr>
              <a:buSzPts val="1600"/>
              <a:buFont typeface="Microsoft JhengHei"/>
              <a:buNone/>
            </a:pPr>
            <a:r>
              <a:rPr b="1" i="0" lang="en-US" sz="1600" u="none" cap="none" strike="noStrike">
                <a:solidFill>
                  <a:srgbClr val="5BE08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✓  </a:t>
            </a:r>
            <a:r>
              <a:rPr b="1" i="0" lang="en-US" sz="1600" u="none" cap="none" strike="noStrike">
                <a:solidFill>
                  <a:srgbClr val="E7ECF2"/>
                </a:solidFill>
                <a:latin typeface="Consolas"/>
                <a:ea typeface="Consolas"/>
                <a:cs typeface="Consolas"/>
                <a:sym typeface="Consolas"/>
              </a:rPr>
              <a:t>morning-research-brief</a:t>
            </a:r>
            <a:r>
              <a:rPr b="0" i="0" lang="en-US" sz="160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　·　每天 8:00　·　deliver=origin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9"/>
          <p:cNvSpPr/>
          <p:nvPr/>
        </p:nvSpPr>
        <p:spPr>
          <a:xfrm>
            <a:off x="914400" y="4480560"/>
            <a:ext cx="10332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350"/>
              <a:buFont typeface="Microsoft JhengHei"/>
              <a:buNone/>
            </a:pPr>
            <a:r>
              <a:rPr b="0" i="0" lang="en-US" sz="135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三區塊整合：</a:t>
            </a:r>
            <a:r>
              <a:rPr b="1" i="0" lang="en-US" sz="135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認知神經科學</a:t>
            </a:r>
            <a:r>
              <a:rPr b="0" i="0" lang="en-US" sz="135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（Alzheimer＋糖尿病失智）＋</a:t>
            </a:r>
            <a:r>
              <a:rPr b="1" i="0" lang="en-US" sz="135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腎臟學</a:t>
            </a:r>
            <a:r>
              <a:rPr b="0" i="0" lang="en-US" sz="135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（NEJM／AJKD／KI）走 PubMed，</a:t>
            </a:r>
            <a:r>
              <a:rPr b="1" i="0" lang="en-US" sz="135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AI 進展</a:t>
            </a:r>
            <a:r>
              <a:rPr b="0" i="0" lang="en-US" sz="135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走 arXiv API。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350"/>
              <a:buFont typeface="Microsoft JhengHei"/>
              <a:buNone/>
            </a:pPr>
            <a:r>
              <a:rPr b="0" i="0" lang="en-US" sz="135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首次驗證：6 篇 PMID ＋ 2 篇 arXiv 全部真實。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rgbClr val="34D6BE"/>
              </a:buClr>
              <a:buSzPts val="1350"/>
              <a:buFont typeface="Microsoft JhengHei"/>
              <a:buNone/>
            </a:pPr>
            <a:r>
              <a:rPr b="1" i="0" lang="en-US" sz="1350" u="none" cap="none" strike="noStrike">
                <a:solidFill>
                  <a:srgbClr val="34D6B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整套工作流 100% 可信。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9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9"/>
          <p:cNvSpPr/>
          <p:nvPr/>
        </p:nvSpPr>
        <p:spPr>
          <a:xfrm>
            <a:off x="0" y="6812280"/>
            <a:ext cx="10362941" cy="45720"/>
          </a:xfrm>
          <a:prstGeom prst="rect">
            <a:avLst/>
          </a:prstGeom>
          <a:solidFill>
            <a:srgbClr val="34D6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9"/>
          <p:cNvSpPr/>
          <p:nvPr/>
        </p:nvSpPr>
        <p:spPr>
          <a:xfrm>
            <a:off x="10607040" y="641908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17 / 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6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0"/>
          <p:cNvSpPr/>
          <p:nvPr/>
        </p:nvSpPr>
        <p:spPr>
          <a:xfrm>
            <a:off x="640080" y="585216"/>
            <a:ext cx="91440" cy="91440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0"/>
          <p:cNvSpPr/>
          <p:nvPr/>
        </p:nvSpPr>
        <p:spPr>
          <a:xfrm>
            <a:off x="822960" y="457200"/>
            <a:ext cx="10058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速查 · 常用指令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0"/>
          <p:cNvSpPr/>
          <p:nvPr/>
        </p:nvSpPr>
        <p:spPr>
          <a:xfrm>
            <a:off x="640080" y="914400"/>
            <a:ext cx="10972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3200"/>
              <a:buFont typeface="Microsoft JhengHei"/>
              <a:buNone/>
            </a:pPr>
            <a:r>
              <a:rPr b="1" i="0" lang="en-US" sz="32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留著重灌時用的 cheatsheet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4" name="Google Shape;384;p20"/>
          <p:cNvGraphicFramePr/>
          <p:nvPr/>
        </p:nvGraphicFramePr>
        <p:xfrm>
          <a:off x="640080" y="17373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{942301CC-5D53-4068-9DEA-ACA0CB921BCC}</a:tableStyleId>
              </a:tblPr>
              <a:tblGrid>
                <a:gridCol w="5943600"/>
                <a:gridCol w="4965200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6975"/>
                        </a:buClr>
                        <a:buSzPts val="1100"/>
                        <a:buFont typeface="Consola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5E69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想做的事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3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6975"/>
                        </a:buClr>
                        <a:buSzPts val="1100"/>
                        <a:buFont typeface="Consola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5E69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指令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32C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A6B2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en-US" sz="1300" u="none" cap="none" strike="noStrike">
                          <a:solidFill>
                            <a:srgbClr val="9AA6B2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啟動 gateway（前景，視窗別關）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FB3FF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6FB3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hermes gateway run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A21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A6B2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en-US" sz="1300" u="none" cap="none" strike="noStrike">
                          <a:solidFill>
                            <a:srgbClr val="9AA6B2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開看板 / Web UI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FB3FF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6FB3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hermes dashboard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A21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A6B2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en-US" sz="1300" u="none" cap="none" strike="noStrike">
                          <a:solidFill>
                            <a:srgbClr val="9AA6B2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直接終端對話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FB3FF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6FB3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hermes chat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A21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A6B2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en-US" sz="1300" u="none" cap="none" strike="noStrike">
                          <a:solidFill>
                            <a:srgbClr val="9AA6B2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看狀態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FB3FF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6FB3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hermes gateway status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A21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A6B2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en-US" sz="1300" u="none" cap="none" strike="noStrike">
                          <a:solidFill>
                            <a:srgbClr val="9AA6B2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看可用模型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FB3FF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6FB3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hermes model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A21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A6B2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en-US" sz="1300" u="none" cap="none" strike="noStrike">
                          <a:solidFill>
                            <a:srgbClr val="9AA6B2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健康檢查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FB3FF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6FB3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hermes doctor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A21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A6B2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en-US" sz="1300" u="none" cap="none" strike="noStrike">
                          <a:solidFill>
                            <a:srgbClr val="9AA6B2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任一子命令的說明</a:t>
                      </a:r>
                      <a:endParaRPr sz="1300" u="none" cap="none" strike="noStrik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FB3FF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300" u="none" cap="none" strike="noStrike">
                          <a:solidFill>
                            <a:srgbClr val="6FB3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hermes &lt;子命令&gt; --help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3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A21"/>
                    </a:solidFill>
                  </a:tcPr>
                </a:tc>
              </a:tr>
            </a:tbl>
          </a:graphicData>
        </a:graphic>
      </p:graphicFrame>
      <p:sp>
        <p:nvSpPr>
          <p:cNvPr id="385" name="Google Shape;385;p20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0"/>
          <p:cNvSpPr/>
          <p:nvPr/>
        </p:nvSpPr>
        <p:spPr>
          <a:xfrm>
            <a:off x="0" y="6812280"/>
            <a:ext cx="10972526" cy="45720"/>
          </a:xfrm>
          <a:prstGeom prst="rect">
            <a:avLst/>
          </a:prstGeom>
          <a:solidFill>
            <a:srgbClr val="34D6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0"/>
          <p:cNvSpPr/>
          <p:nvPr/>
        </p:nvSpPr>
        <p:spPr>
          <a:xfrm>
            <a:off x="10607040" y="641908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18 / 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6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1"/>
          <p:cNvSpPr/>
          <p:nvPr/>
        </p:nvSpPr>
        <p:spPr>
          <a:xfrm>
            <a:off x="640080" y="585216"/>
            <a:ext cx="91440" cy="91440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1"/>
          <p:cNvSpPr/>
          <p:nvPr/>
        </p:nvSpPr>
        <p:spPr>
          <a:xfrm>
            <a:off x="822960" y="457200"/>
            <a:ext cx="10058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提煉 · 六個關鍵教訓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1"/>
          <p:cNvSpPr/>
          <p:nvPr/>
        </p:nvSpPr>
        <p:spPr>
          <a:xfrm>
            <a:off x="640080" y="914400"/>
            <a:ext cx="10972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3200"/>
              <a:buFont typeface="Microsoft JhengHei"/>
              <a:buNone/>
            </a:pPr>
            <a:r>
              <a:rPr b="1" i="0" lang="en-US" sz="32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如果只記住六件事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1"/>
          <p:cNvSpPr/>
          <p:nvPr/>
        </p:nvSpPr>
        <p:spPr>
          <a:xfrm>
            <a:off x="640080" y="1783080"/>
            <a:ext cx="5330952" cy="1280160"/>
          </a:xfrm>
          <a:prstGeom prst="roundRect">
            <a:avLst>
              <a:gd fmla="val 5714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1"/>
          <p:cNvSpPr/>
          <p:nvPr/>
        </p:nvSpPr>
        <p:spPr>
          <a:xfrm>
            <a:off x="877824" y="1947672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6BE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34D6BE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1"/>
          <p:cNvSpPr/>
          <p:nvPr/>
        </p:nvSpPr>
        <p:spPr>
          <a:xfrm>
            <a:off x="1554480" y="1947672"/>
            <a:ext cx="4233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1450"/>
              <a:buFont typeface="Microsoft JhengHei"/>
              <a:buNone/>
            </a:pPr>
            <a:r>
              <a:rPr b="1" i="0" lang="en-US" sz="145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Windows 水土不服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1"/>
          <p:cNvSpPr/>
          <p:nvPr/>
        </p:nvSpPr>
        <p:spPr>
          <a:xfrm>
            <a:off x="1554480" y="2331720"/>
            <a:ext cx="423367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150"/>
              <a:buFont typeface="Microsoft JhengHei"/>
              <a:buNone/>
            </a:pPr>
            <a:r>
              <a:rPr b="0" i="0" lang="en-US" sz="115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文件多預設 Linux／macOS，自己翻譯 start→run、ui→dashboard、跳過 sudo／systemd。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1"/>
          <p:cNvSpPr/>
          <p:nvPr/>
        </p:nvSpPr>
        <p:spPr>
          <a:xfrm>
            <a:off x="6217920" y="1783080"/>
            <a:ext cx="5330952" cy="1280160"/>
          </a:xfrm>
          <a:prstGeom prst="roundRect">
            <a:avLst>
              <a:gd fmla="val 5714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1"/>
          <p:cNvSpPr/>
          <p:nvPr/>
        </p:nvSpPr>
        <p:spPr>
          <a:xfrm>
            <a:off x="6455664" y="1947672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6BE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34D6BE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1"/>
          <p:cNvSpPr/>
          <p:nvPr/>
        </p:nvSpPr>
        <p:spPr>
          <a:xfrm>
            <a:off x="7132320" y="1947672"/>
            <a:ext cx="4233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1450"/>
              <a:buFont typeface="Microsoft JhengHei"/>
              <a:buNone/>
            </a:pPr>
            <a:r>
              <a:rPr b="1" i="0" lang="en-US" sz="145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多層模型的隱形成本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1"/>
          <p:cNvSpPr/>
          <p:nvPr/>
        </p:nvSpPr>
        <p:spPr>
          <a:xfrm>
            <a:off x="7132320" y="2331720"/>
            <a:ext cx="423367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150"/>
              <a:buFont typeface="Microsoft JhengHei"/>
              <a:buNone/>
            </a:pPr>
            <a:r>
              <a:rPr b="0" i="0" lang="en-US" sz="115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Main／Auxiliary／Profile／任務快照，改一層不夠。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1"/>
          <p:cNvSpPr/>
          <p:nvPr/>
        </p:nvSpPr>
        <p:spPr>
          <a:xfrm>
            <a:off x="640080" y="3246120"/>
            <a:ext cx="5330952" cy="1280160"/>
          </a:xfrm>
          <a:prstGeom prst="roundRect">
            <a:avLst>
              <a:gd fmla="val 5714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1"/>
          <p:cNvSpPr/>
          <p:nvPr/>
        </p:nvSpPr>
        <p:spPr>
          <a:xfrm>
            <a:off x="877824" y="3410712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6BE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34D6BE"/>
                </a:solidFill>
                <a:latin typeface="Consolas"/>
                <a:ea typeface="Consolas"/>
                <a:cs typeface="Consolas"/>
                <a:sym typeface="Consolas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1"/>
          <p:cNvSpPr/>
          <p:nvPr/>
        </p:nvSpPr>
        <p:spPr>
          <a:xfrm>
            <a:off x="1554480" y="3410712"/>
            <a:ext cx="4233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1450"/>
              <a:buFont typeface="Microsoft JhengHei"/>
              <a:buNone/>
            </a:pPr>
            <a:r>
              <a:rPr b="1" i="0" lang="en-US" sz="145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對話導向 vs 視覺導向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1"/>
          <p:cNvSpPr/>
          <p:nvPr/>
        </p:nvSpPr>
        <p:spPr>
          <a:xfrm>
            <a:off x="1554480" y="3794760"/>
            <a:ext cx="423367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150"/>
              <a:buFont typeface="Microsoft JhengHei"/>
              <a:buNone/>
            </a:pPr>
            <a:r>
              <a:rPr b="0" i="0" lang="en-US" sz="115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Hermes 是前者，SaaS 思維會撞牆。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1"/>
          <p:cNvSpPr/>
          <p:nvPr/>
        </p:nvSpPr>
        <p:spPr>
          <a:xfrm>
            <a:off x="6217920" y="3246120"/>
            <a:ext cx="5330952" cy="1280160"/>
          </a:xfrm>
          <a:prstGeom prst="roundRect">
            <a:avLst>
              <a:gd fmla="val 5714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1"/>
          <p:cNvSpPr/>
          <p:nvPr/>
        </p:nvSpPr>
        <p:spPr>
          <a:xfrm>
            <a:off x="6455664" y="3410712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6BE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34D6BE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1"/>
          <p:cNvSpPr/>
          <p:nvPr/>
        </p:nvSpPr>
        <p:spPr>
          <a:xfrm>
            <a:off x="7132320" y="3410712"/>
            <a:ext cx="4233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1450"/>
              <a:buFont typeface="Microsoft JhengHei"/>
              <a:buNone/>
            </a:pPr>
            <a:r>
              <a:rPr b="1" i="0" lang="en-US" sz="145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「沒 web search」≠「不能上網」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1"/>
          <p:cNvSpPr/>
          <p:nvPr/>
        </p:nvSpPr>
        <p:spPr>
          <a:xfrm>
            <a:off x="7132320" y="3794760"/>
            <a:ext cx="423367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150"/>
              <a:buFont typeface="Microsoft JhengHei"/>
              <a:buNone/>
            </a:pPr>
            <a:r>
              <a:rPr b="0" i="0" lang="en-US" sz="115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指定 API endpoint 給它（真實），別叫它「搜尋」（編造）。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1"/>
          <p:cNvSpPr/>
          <p:nvPr/>
        </p:nvSpPr>
        <p:spPr>
          <a:xfrm>
            <a:off x="640080" y="4709160"/>
            <a:ext cx="5330952" cy="1280160"/>
          </a:xfrm>
          <a:prstGeom prst="roundRect">
            <a:avLst>
              <a:gd fmla="val 5714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1"/>
          <p:cNvSpPr/>
          <p:nvPr/>
        </p:nvSpPr>
        <p:spPr>
          <a:xfrm>
            <a:off x="877824" y="4873752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6BE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34D6BE"/>
                </a:solidFill>
                <a:latin typeface="Consolas"/>
                <a:ea typeface="Consolas"/>
                <a:cs typeface="Consolas"/>
                <a:sym typeface="Consolas"/>
              </a:rPr>
              <a:t>05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1"/>
          <p:cNvSpPr/>
          <p:nvPr/>
        </p:nvSpPr>
        <p:spPr>
          <a:xfrm>
            <a:off x="1554480" y="4873752"/>
            <a:ext cx="4233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1450"/>
              <a:buFont typeface="Microsoft JhengHei"/>
              <a:buNone/>
            </a:pPr>
            <a:r>
              <a:rPr b="1" i="0" lang="en-US" sz="145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Agent 自己修錯的威力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1"/>
          <p:cNvSpPr/>
          <p:nvPr/>
        </p:nvSpPr>
        <p:spPr>
          <a:xfrm>
            <a:off x="1554480" y="5257800"/>
            <a:ext cx="423367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150"/>
              <a:buFont typeface="Microsoft JhengHei"/>
              <a:buNone/>
            </a:pPr>
            <a:r>
              <a:rPr b="0" i="0" lang="en-US" sz="115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一句「幫我修正傳送頻道」，它自己診斷、跑工具鏈、改設定——這就是 agentic AI 的價值。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1"/>
          <p:cNvSpPr/>
          <p:nvPr/>
        </p:nvSpPr>
        <p:spPr>
          <a:xfrm>
            <a:off x="6217920" y="4709160"/>
            <a:ext cx="5330952" cy="1280160"/>
          </a:xfrm>
          <a:prstGeom prst="roundRect">
            <a:avLst>
              <a:gd fmla="val 5714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1"/>
          <p:cNvSpPr/>
          <p:nvPr/>
        </p:nvSpPr>
        <p:spPr>
          <a:xfrm>
            <a:off x="6455664" y="4873752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6BE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34D6BE"/>
                </a:solidFill>
                <a:latin typeface="Consolas"/>
                <a:ea typeface="Consolas"/>
                <a:cs typeface="Consolas"/>
                <a:sym typeface="Consolas"/>
              </a:rPr>
              <a:t>06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1"/>
          <p:cNvSpPr/>
          <p:nvPr/>
        </p:nvSpPr>
        <p:spPr>
          <a:xfrm>
            <a:off x="7132320" y="4873752"/>
            <a:ext cx="4233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1450"/>
              <a:buFont typeface="Microsoft JhengHei"/>
              <a:buNone/>
            </a:pPr>
            <a:r>
              <a:rPr b="1" i="0" lang="en-US" sz="145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PubMed E-utilities 是金礦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1"/>
          <p:cNvSpPr/>
          <p:nvPr/>
        </p:nvSpPr>
        <p:spPr>
          <a:xfrm>
            <a:off x="7132320" y="5257800"/>
            <a:ext cx="423367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150"/>
              <a:buFont typeface="Microsoft JhengHei"/>
              <a:buNone/>
            </a:pPr>
            <a:r>
              <a:rPr b="0" i="0" lang="en-US" sz="115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免費、無 key、官方、能抓完整 abstract，醫療研究自動化的 daily driver。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1"/>
          <p:cNvSpPr/>
          <p:nvPr/>
        </p:nvSpPr>
        <p:spPr>
          <a:xfrm>
            <a:off x="0" y="6812280"/>
            <a:ext cx="11582110" cy="45720"/>
          </a:xfrm>
          <a:prstGeom prst="rect">
            <a:avLst/>
          </a:prstGeom>
          <a:solidFill>
            <a:srgbClr val="34D6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1"/>
          <p:cNvSpPr/>
          <p:nvPr/>
        </p:nvSpPr>
        <p:spPr>
          <a:xfrm>
            <a:off x="10607040" y="641908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19 / 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93" name="Google Shape;393;p21"/>
          <p:cNvSpPr/>
          <p:nvPr/>
        </p:nvSpPr>
        <p:spPr>
          <a:xfrm>
            <a:off x="640080" y="585216"/>
            <a:ext cx="91440" cy="91440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1"/>
          <p:cNvSpPr/>
          <p:nvPr/>
        </p:nvSpPr>
        <p:spPr>
          <a:xfrm>
            <a:off x="822960" y="457200"/>
            <a:ext cx="10058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部署 · 最終部署避坑實戰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1"/>
          <p:cNvSpPr/>
          <p:nvPr/>
        </p:nvSpPr>
        <p:spPr>
          <a:xfrm>
            <a:off x="640080" y="914400"/>
            <a:ext cx="10972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3200"/>
              <a:buFont typeface="Microsoft JhengHei"/>
              <a:buNone/>
            </a:pPr>
            <a:r>
              <a:rPr b="1" i="0" lang="en-US" sz="32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Apps Script 完美設定四要素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1"/>
          <p:cNvSpPr/>
          <p:nvPr/>
        </p:nvSpPr>
        <p:spPr>
          <a:xfrm>
            <a:off x="640080" y="1783080"/>
            <a:ext cx="5330952" cy="1280160"/>
          </a:xfrm>
          <a:prstGeom prst="roundRect">
            <a:avLst>
              <a:gd fmla="val 5714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1"/>
          <p:cNvSpPr/>
          <p:nvPr/>
        </p:nvSpPr>
        <p:spPr>
          <a:xfrm>
            <a:off x="877824" y="1947672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6BE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34D6BE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1"/>
          <p:cNvSpPr/>
          <p:nvPr/>
        </p:nvSpPr>
        <p:spPr>
          <a:xfrm>
            <a:off x="1554480" y="1947672"/>
            <a:ext cx="4233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1450"/>
              <a:buFont typeface="Microsoft JhengHei"/>
              <a:buNone/>
            </a:pPr>
            <a:r>
              <a:rPr b="1" i="0" lang="en-US" sz="145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PubMed 頻率限制 (NCBI Key)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1"/>
          <p:cNvSpPr/>
          <p:nvPr/>
        </p:nvSpPr>
        <p:spPr>
          <a:xfrm>
            <a:off x="1554480" y="2331720"/>
            <a:ext cx="423367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150"/>
              <a:buFont typeface="Microsoft JhengHei"/>
              <a:buNone/>
            </a:pPr>
            <a:r>
              <a:rPr b="0" i="0" lang="en-US" sz="115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無 Key 限制為每秒 3 次。有 Key 提升至 10 次。已在代碼底部新增 setNcbiApiKeyHelper()，一鍵在雲端安全儲存。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1"/>
          <p:cNvSpPr/>
          <p:nvPr/>
        </p:nvSpPr>
        <p:spPr>
          <a:xfrm>
            <a:off x="6217920" y="1783080"/>
            <a:ext cx="5330952" cy="1280160"/>
          </a:xfrm>
          <a:prstGeom prst="roundRect">
            <a:avLst>
              <a:gd fmla="val 5714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1"/>
          <p:cNvSpPr/>
          <p:nvPr/>
        </p:nvSpPr>
        <p:spPr>
          <a:xfrm>
            <a:off x="6455664" y="1947672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6BE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34D6BE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1"/>
          <p:cNvSpPr/>
          <p:nvPr/>
        </p:nvSpPr>
        <p:spPr>
          <a:xfrm>
            <a:off x="7132320" y="1947672"/>
            <a:ext cx="4233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1450"/>
              <a:buFont typeface="Microsoft JhengHei"/>
              <a:buNone/>
            </a:pPr>
            <a:r>
              <a:rPr b="1" i="0" lang="en-US" sz="145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早上 7:00 排程自動設定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1"/>
          <p:cNvSpPr/>
          <p:nvPr/>
        </p:nvSpPr>
        <p:spPr>
          <a:xfrm>
            <a:off x="7132320" y="2331720"/>
            <a:ext cx="423367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150"/>
              <a:buFont typeface="Microsoft JhengHei"/>
              <a:buNone/>
            </a:pPr>
            <a:r>
              <a:rPr b="0" i="0" lang="en-US" sz="115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直接在編輯器執行 setupDailyTrigger() 即可自動清除舊有重複觸發器，並在 Google 雲端設定每天定時運行。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1"/>
          <p:cNvSpPr/>
          <p:nvPr/>
        </p:nvSpPr>
        <p:spPr>
          <a:xfrm>
            <a:off x="640080" y="3246120"/>
            <a:ext cx="5330952" cy="1280160"/>
          </a:xfrm>
          <a:prstGeom prst="roundRect">
            <a:avLst>
              <a:gd fmla="val 5714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1"/>
          <p:cNvSpPr/>
          <p:nvPr/>
        </p:nvSpPr>
        <p:spPr>
          <a:xfrm>
            <a:off x="877824" y="3410712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6BE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34D6BE"/>
                </a:solidFill>
                <a:latin typeface="Consolas"/>
                <a:ea typeface="Consolas"/>
                <a:cs typeface="Consolas"/>
                <a:sym typeface="Consolas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1"/>
          <p:cNvSpPr/>
          <p:nvPr/>
        </p:nvSpPr>
        <p:spPr>
          <a:xfrm>
            <a:off x="1554480" y="3410712"/>
            <a:ext cx="4233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1450"/>
              <a:buFont typeface="Microsoft JhengHei"/>
              <a:buNone/>
            </a:pPr>
            <a:r>
              <a:rPr b="1" i="0" lang="en-US" sz="145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時區與運行確認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1"/>
          <p:cNvSpPr/>
          <p:nvPr/>
        </p:nvSpPr>
        <p:spPr>
          <a:xfrm>
            <a:off x="1554480" y="3794760"/>
            <a:ext cx="423367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150"/>
              <a:buFont typeface="Microsoft JhengHei"/>
              <a:buNone/>
            </a:pPr>
            <a:r>
              <a:rPr b="0" i="0" lang="en-US" sz="115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確認時區為台北時間。每天早上 7:00 ~ 8:00 間會自動發送 Brief 簡報至您的 Telegram。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1"/>
          <p:cNvSpPr/>
          <p:nvPr/>
        </p:nvSpPr>
        <p:spPr>
          <a:xfrm>
            <a:off x="6217920" y="3246120"/>
            <a:ext cx="5330952" cy="1280160"/>
          </a:xfrm>
          <a:prstGeom prst="roundRect">
            <a:avLst>
              <a:gd fmla="val 5714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1"/>
          <p:cNvSpPr/>
          <p:nvPr/>
        </p:nvSpPr>
        <p:spPr>
          <a:xfrm>
            <a:off x="6455664" y="3410712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6BE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34D6BE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1"/>
          <p:cNvSpPr/>
          <p:nvPr/>
        </p:nvSpPr>
        <p:spPr>
          <a:xfrm>
            <a:off x="7132320" y="3410712"/>
            <a:ext cx="4233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1450"/>
              <a:buFont typeface="Microsoft JhengHei"/>
              <a:buNone/>
            </a:pPr>
            <a:r>
              <a:rPr b="1" i="0" lang="en-US" sz="145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部署與維護手冊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1"/>
          <p:cNvSpPr/>
          <p:nvPr/>
        </p:nvSpPr>
        <p:spPr>
          <a:xfrm>
            <a:off x="7132320" y="3794760"/>
            <a:ext cx="423367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150"/>
              <a:buFont typeface="Microsoft JhengHei"/>
              <a:buNone/>
            </a:pPr>
            <a:r>
              <a:rPr b="0" i="0" lang="en-US" sz="115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完整詳細步驟已寫入「每日Brief自建部署與排程手冊.md」，為未來重灌或維護提供完美指引。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1"/>
          <p:cNvSpPr/>
          <p:nvPr/>
        </p:nvSpPr>
        <p:spPr>
          <a:xfrm>
            <a:off x="640080" y="4709160"/>
            <a:ext cx="5330952" cy="1280160"/>
          </a:xfrm>
          <a:prstGeom prst="roundRect">
            <a:avLst>
              <a:gd fmla="val 5714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1"/>
          <p:cNvSpPr/>
          <p:nvPr/>
        </p:nvSpPr>
        <p:spPr>
          <a:xfrm>
            <a:off x="877824" y="4873752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6BE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34D6BE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1"/>
          <p:cNvSpPr/>
          <p:nvPr/>
        </p:nvSpPr>
        <p:spPr>
          <a:xfrm>
            <a:off x="1554480" y="4873752"/>
            <a:ext cx="4233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1450"/>
              <a:buFont typeface="Microsoft JhengHei"/>
              <a:buNone/>
            </a:pPr>
            <a:r>
              <a:rPr b="1" i="0" lang="en-US" sz="145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/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1"/>
          <p:cNvSpPr/>
          <p:nvPr/>
        </p:nvSpPr>
        <p:spPr>
          <a:xfrm>
            <a:off x="1554480" y="5257800"/>
            <a:ext cx="423367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150"/>
              <a:buFont typeface="Microsoft JhengHei"/>
              <a:buNone/>
            </a:pPr>
            <a:r>
              <a:rPr b="0" i="0" lang="en-US" sz="115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1"/>
          <p:cNvSpPr/>
          <p:nvPr/>
        </p:nvSpPr>
        <p:spPr>
          <a:xfrm>
            <a:off x="6217920" y="4709160"/>
            <a:ext cx="5330952" cy="1280160"/>
          </a:xfrm>
          <a:prstGeom prst="roundRect">
            <a:avLst>
              <a:gd fmla="val 5714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1"/>
          <p:cNvSpPr/>
          <p:nvPr/>
        </p:nvSpPr>
        <p:spPr>
          <a:xfrm>
            <a:off x="6455664" y="4873752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6BE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34D6BE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1"/>
          <p:cNvSpPr/>
          <p:nvPr/>
        </p:nvSpPr>
        <p:spPr>
          <a:xfrm>
            <a:off x="7132320" y="4873752"/>
            <a:ext cx="4233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1450"/>
              <a:buFont typeface="Microsoft JhengHei"/>
              <a:buNone/>
            </a:pPr>
            <a:r>
              <a:rPr b="1" i="0" lang="en-US" sz="145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/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1"/>
          <p:cNvSpPr/>
          <p:nvPr/>
        </p:nvSpPr>
        <p:spPr>
          <a:xfrm>
            <a:off x="7132320" y="5257800"/>
            <a:ext cx="423367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150"/>
              <a:buFont typeface="Microsoft JhengHei"/>
              <a:buNone/>
            </a:pPr>
            <a:r>
              <a:rPr b="0" i="0" lang="en-US" sz="115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1"/>
          <p:cNvSpPr/>
          <p:nvPr/>
        </p:nvSpPr>
        <p:spPr>
          <a:xfrm>
            <a:off x="0" y="6812280"/>
            <a:ext cx="11582110" cy="45720"/>
          </a:xfrm>
          <a:prstGeom prst="rect">
            <a:avLst/>
          </a:prstGeom>
          <a:solidFill>
            <a:srgbClr val="34D6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1"/>
          <p:cNvSpPr/>
          <p:nvPr/>
        </p:nvSpPr>
        <p:spPr>
          <a:xfrm>
            <a:off x="10607040" y="641908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20 / 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93" name="Google Shape;393;p21"/>
          <p:cNvSpPr/>
          <p:nvPr/>
        </p:nvSpPr>
        <p:spPr>
          <a:xfrm>
            <a:off x="640080" y="585216"/>
            <a:ext cx="91440" cy="91440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1"/>
          <p:cNvSpPr/>
          <p:nvPr/>
        </p:nvSpPr>
        <p:spPr>
          <a:xfrm>
            <a:off x="822960" y="457200"/>
            <a:ext cx="10058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部署 · 最終部署避坑實戰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1"/>
          <p:cNvSpPr/>
          <p:nvPr/>
        </p:nvSpPr>
        <p:spPr>
          <a:xfrm>
            <a:off x="640080" y="914400"/>
            <a:ext cx="10972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3200"/>
              <a:buFont typeface="Microsoft JhengHei"/>
              <a:buNone/>
            </a:pPr>
            <a:r>
              <a:rPr b="1" i="0" lang="en-US" sz="32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Apps Script 完美設定四要素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1"/>
          <p:cNvSpPr/>
          <p:nvPr/>
        </p:nvSpPr>
        <p:spPr>
          <a:xfrm>
            <a:off x="640080" y="1783080"/>
            <a:ext cx="5330952" cy="1280160"/>
          </a:xfrm>
          <a:prstGeom prst="roundRect">
            <a:avLst>
              <a:gd fmla="val 5714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1"/>
          <p:cNvSpPr/>
          <p:nvPr/>
        </p:nvSpPr>
        <p:spPr>
          <a:xfrm>
            <a:off x="877824" y="1947672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6BE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34D6BE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1"/>
          <p:cNvSpPr/>
          <p:nvPr/>
        </p:nvSpPr>
        <p:spPr>
          <a:xfrm>
            <a:off x="1554480" y="1947672"/>
            <a:ext cx="4233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1450"/>
              <a:buFont typeface="Microsoft JhengHei"/>
              <a:buNone/>
            </a:pPr>
            <a:r>
              <a:rPr b="1" i="0" lang="en-US" sz="145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PubMed 頻率限制 (NCBI Key)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1"/>
          <p:cNvSpPr/>
          <p:nvPr/>
        </p:nvSpPr>
        <p:spPr>
          <a:xfrm>
            <a:off x="1554480" y="2331720"/>
            <a:ext cx="423367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150"/>
              <a:buFont typeface="Microsoft JhengHei"/>
              <a:buNone/>
            </a:pPr>
            <a:r>
              <a:rPr b="0" i="0" lang="en-US" sz="115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無 Key 限制為每秒 3 次。有 Key 提升至 10 次。已在代碼底部新增 setNcbiApiKeyHelper()，一鍵在雲端安全儲存。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1"/>
          <p:cNvSpPr/>
          <p:nvPr/>
        </p:nvSpPr>
        <p:spPr>
          <a:xfrm>
            <a:off x="6217920" y="1783080"/>
            <a:ext cx="5330952" cy="1280160"/>
          </a:xfrm>
          <a:prstGeom prst="roundRect">
            <a:avLst>
              <a:gd fmla="val 5714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1"/>
          <p:cNvSpPr/>
          <p:nvPr/>
        </p:nvSpPr>
        <p:spPr>
          <a:xfrm>
            <a:off x="6455664" y="1947672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6BE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34D6BE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1"/>
          <p:cNvSpPr/>
          <p:nvPr/>
        </p:nvSpPr>
        <p:spPr>
          <a:xfrm>
            <a:off x="7132320" y="1947672"/>
            <a:ext cx="4233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1450"/>
              <a:buFont typeface="Microsoft JhengHei"/>
              <a:buNone/>
            </a:pPr>
            <a:r>
              <a:rPr b="1" i="0" lang="en-US" sz="145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早上 7:00 排程自動設定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1"/>
          <p:cNvSpPr/>
          <p:nvPr/>
        </p:nvSpPr>
        <p:spPr>
          <a:xfrm>
            <a:off x="7132320" y="2331720"/>
            <a:ext cx="423367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150"/>
              <a:buFont typeface="Microsoft JhengHei"/>
              <a:buNone/>
            </a:pPr>
            <a:r>
              <a:rPr b="0" i="0" lang="en-US" sz="115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直接在編輯器執行 setupDailyTrigger() 即可自動清除舊有重複觸發器，並在 Google 雲端設定每天定時運行。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1"/>
          <p:cNvSpPr/>
          <p:nvPr/>
        </p:nvSpPr>
        <p:spPr>
          <a:xfrm>
            <a:off x="640080" y="3246120"/>
            <a:ext cx="5330952" cy="1280160"/>
          </a:xfrm>
          <a:prstGeom prst="roundRect">
            <a:avLst>
              <a:gd fmla="val 5714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1"/>
          <p:cNvSpPr/>
          <p:nvPr/>
        </p:nvSpPr>
        <p:spPr>
          <a:xfrm>
            <a:off x="877824" y="3410712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6BE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34D6BE"/>
                </a:solidFill>
                <a:latin typeface="Consolas"/>
                <a:ea typeface="Consolas"/>
                <a:cs typeface="Consolas"/>
                <a:sym typeface="Consolas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1"/>
          <p:cNvSpPr/>
          <p:nvPr/>
        </p:nvSpPr>
        <p:spPr>
          <a:xfrm>
            <a:off x="1554480" y="3410712"/>
            <a:ext cx="4233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1450"/>
              <a:buFont typeface="Microsoft JhengHei"/>
              <a:buNone/>
            </a:pPr>
            <a:r>
              <a:rPr b="1" i="0" lang="en-US" sz="145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時區與運行確認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1"/>
          <p:cNvSpPr/>
          <p:nvPr/>
        </p:nvSpPr>
        <p:spPr>
          <a:xfrm>
            <a:off x="1554480" y="3794760"/>
            <a:ext cx="423367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150"/>
              <a:buFont typeface="Microsoft JhengHei"/>
              <a:buNone/>
            </a:pPr>
            <a:r>
              <a:rPr b="0" i="0" lang="en-US" sz="115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確認時區為台北時間。每天早上 7:00 ~ 8:00 間會自動發送 Brief 簡報至您的 Telegram。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1"/>
          <p:cNvSpPr/>
          <p:nvPr/>
        </p:nvSpPr>
        <p:spPr>
          <a:xfrm>
            <a:off x="6217920" y="3246120"/>
            <a:ext cx="5330952" cy="1280160"/>
          </a:xfrm>
          <a:prstGeom prst="roundRect">
            <a:avLst>
              <a:gd fmla="val 5714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1"/>
          <p:cNvSpPr/>
          <p:nvPr/>
        </p:nvSpPr>
        <p:spPr>
          <a:xfrm>
            <a:off x="6455664" y="3410712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6BE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34D6BE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1"/>
          <p:cNvSpPr/>
          <p:nvPr/>
        </p:nvSpPr>
        <p:spPr>
          <a:xfrm>
            <a:off x="7132320" y="3410712"/>
            <a:ext cx="4233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1450"/>
              <a:buFont typeface="Microsoft JhengHei"/>
              <a:buNone/>
            </a:pPr>
            <a:r>
              <a:rPr b="1" i="0" lang="en-US" sz="145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部署與維護手冊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1"/>
          <p:cNvSpPr/>
          <p:nvPr/>
        </p:nvSpPr>
        <p:spPr>
          <a:xfrm>
            <a:off x="7132320" y="3794760"/>
            <a:ext cx="423367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150"/>
              <a:buFont typeface="Microsoft JhengHei"/>
              <a:buNone/>
            </a:pPr>
            <a:r>
              <a:rPr b="0" i="0" lang="en-US" sz="115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完整詳細步驟已寫入「每日Brief自建部署與排程手冊.md」，為未來重灌或維護提供完美指引。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1"/>
          <p:cNvSpPr/>
          <p:nvPr/>
        </p:nvSpPr>
        <p:spPr>
          <a:xfrm>
            <a:off x="640080" y="4709160"/>
            <a:ext cx="5330952" cy="1280160"/>
          </a:xfrm>
          <a:prstGeom prst="roundRect">
            <a:avLst>
              <a:gd fmla="val 5714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1"/>
          <p:cNvSpPr/>
          <p:nvPr/>
        </p:nvSpPr>
        <p:spPr>
          <a:xfrm>
            <a:off x="877824" y="4873752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6BE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34D6BE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1"/>
          <p:cNvSpPr/>
          <p:nvPr/>
        </p:nvSpPr>
        <p:spPr>
          <a:xfrm>
            <a:off x="1554480" y="4873752"/>
            <a:ext cx="4233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1450"/>
              <a:buFont typeface="Microsoft JhengHei"/>
              <a:buNone/>
            </a:pPr>
            <a:r>
              <a:rPr b="1" i="0" lang="en-US" sz="145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/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1"/>
          <p:cNvSpPr/>
          <p:nvPr/>
        </p:nvSpPr>
        <p:spPr>
          <a:xfrm>
            <a:off x="1554480" y="5257800"/>
            <a:ext cx="423367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150"/>
              <a:buFont typeface="Microsoft JhengHei"/>
              <a:buNone/>
            </a:pPr>
            <a:r>
              <a:rPr b="0" i="0" lang="en-US" sz="115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1"/>
          <p:cNvSpPr/>
          <p:nvPr/>
        </p:nvSpPr>
        <p:spPr>
          <a:xfrm>
            <a:off x="6217920" y="4709160"/>
            <a:ext cx="5330952" cy="1280160"/>
          </a:xfrm>
          <a:prstGeom prst="roundRect">
            <a:avLst>
              <a:gd fmla="val 5714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1"/>
          <p:cNvSpPr/>
          <p:nvPr/>
        </p:nvSpPr>
        <p:spPr>
          <a:xfrm>
            <a:off x="6455664" y="4873752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6BE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34D6BE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1"/>
          <p:cNvSpPr/>
          <p:nvPr/>
        </p:nvSpPr>
        <p:spPr>
          <a:xfrm>
            <a:off x="7132320" y="4873752"/>
            <a:ext cx="4233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1450"/>
              <a:buFont typeface="Microsoft JhengHei"/>
              <a:buNone/>
            </a:pPr>
            <a:r>
              <a:rPr b="1" i="0" lang="en-US" sz="145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/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1"/>
          <p:cNvSpPr/>
          <p:nvPr/>
        </p:nvSpPr>
        <p:spPr>
          <a:xfrm>
            <a:off x="7132320" y="5257800"/>
            <a:ext cx="423367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150"/>
              <a:buFont typeface="Microsoft JhengHei"/>
              <a:buNone/>
            </a:pPr>
            <a:r>
              <a:rPr b="0" i="0" lang="en-US" sz="115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1"/>
          <p:cNvSpPr/>
          <p:nvPr/>
        </p:nvSpPr>
        <p:spPr>
          <a:xfrm>
            <a:off x="0" y="6812280"/>
            <a:ext cx="11582110" cy="45720"/>
          </a:xfrm>
          <a:prstGeom prst="rect">
            <a:avLst/>
          </a:prstGeom>
          <a:solidFill>
            <a:srgbClr val="34D6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1"/>
          <p:cNvSpPr/>
          <p:nvPr/>
        </p:nvSpPr>
        <p:spPr>
          <a:xfrm>
            <a:off x="10607040" y="641908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20 / 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93" name="Google Shape;393;p21"/>
          <p:cNvSpPr/>
          <p:nvPr/>
        </p:nvSpPr>
        <p:spPr>
          <a:xfrm>
            <a:off x="640080" y="585216"/>
            <a:ext cx="91440" cy="91440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1"/>
          <p:cNvSpPr/>
          <p:nvPr/>
        </p:nvSpPr>
        <p:spPr>
          <a:xfrm>
            <a:off x="822960" y="457200"/>
            <a:ext cx="10058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部署 · 最終部署避坑實戰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1"/>
          <p:cNvSpPr/>
          <p:nvPr/>
        </p:nvSpPr>
        <p:spPr>
          <a:xfrm>
            <a:off x="640080" y="914400"/>
            <a:ext cx="10972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3200"/>
              <a:buFont typeface="Microsoft JhengHei"/>
              <a:buNone/>
            </a:pPr>
            <a:r>
              <a:rPr b="1" i="0" lang="en-US" sz="320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Apps Script 完美設定四要素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1"/>
          <p:cNvSpPr/>
          <p:nvPr/>
        </p:nvSpPr>
        <p:spPr>
          <a:xfrm>
            <a:off x="640080" y="1783080"/>
            <a:ext cx="5330952" cy="1280160"/>
          </a:xfrm>
          <a:prstGeom prst="roundRect">
            <a:avLst>
              <a:gd fmla="val 5714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1"/>
          <p:cNvSpPr/>
          <p:nvPr/>
        </p:nvSpPr>
        <p:spPr>
          <a:xfrm>
            <a:off x="877824" y="1947672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6BE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34D6BE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1"/>
          <p:cNvSpPr/>
          <p:nvPr/>
        </p:nvSpPr>
        <p:spPr>
          <a:xfrm>
            <a:off x="1554480" y="1947672"/>
            <a:ext cx="4233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1450"/>
              <a:buFont typeface="Microsoft JhengHei"/>
              <a:buNone/>
            </a:pPr>
            <a:r>
              <a:rPr b="1" i="0" lang="en-US" sz="145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PubMed 頻率限制 (NCBI Key)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1"/>
          <p:cNvSpPr/>
          <p:nvPr/>
        </p:nvSpPr>
        <p:spPr>
          <a:xfrm>
            <a:off x="1554480" y="2331720"/>
            <a:ext cx="423367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150"/>
              <a:buFont typeface="Microsoft JhengHei"/>
              <a:buNone/>
            </a:pPr>
            <a:r>
              <a:rPr b="0" i="0" lang="en-US" sz="115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無 Key 限制為每秒 3 次。有 Key 提升至 10 次。已在代碼底部新增 setNcbiApiKeyHelper()，一鍵在雲端安全儲存。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1"/>
          <p:cNvSpPr/>
          <p:nvPr/>
        </p:nvSpPr>
        <p:spPr>
          <a:xfrm>
            <a:off x="6217920" y="1783080"/>
            <a:ext cx="5330952" cy="1280160"/>
          </a:xfrm>
          <a:prstGeom prst="roundRect">
            <a:avLst>
              <a:gd fmla="val 5714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1"/>
          <p:cNvSpPr/>
          <p:nvPr/>
        </p:nvSpPr>
        <p:spPr>
          <a:xfrm>
            <a:off x="6455664" y="1947672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6BE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34D6BE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1"/>
          <p:cNvSpPr/>
          <p:nvPr/>
        </p:nvSpPr>
        <p:spPr>
          <a:xfrm>
            <a:off x="7132320" y="1947672"/>
            <a:ext cx="4233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1450"/>
              <a:buFont typeface="Microsoft JhengHei"/>
              <a:buNone/>
            </a:pPr>
            <a:r>
              <a:rPr b="1" i="0" lang="en-US" sz="145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早上 7:00 排程自動設定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1"/>
          <p:cNvSpPr/>
          <p:nvPr/>
        </p:nvSpPr>
        <p:spPr>
          <a:xfrm>
            <a:off x="7132320" y="2331720"/>
            <a:ext cx="423367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150"/>
              <a:buFont typeface="Microsoft JhengHei"/>
              <a:buNone/>
            </a:pPr>
            <a:r>
              <a:rPr b="0" i="0" lang="en-US" sz="115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直接在編輯器執行 setupDailyTrigger() 即可自動清除舊有重複觸發器，並在 Google 雲端設定每天定時運行。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1"/>
          <p:cNvSpPr/>
          <p:nvPr/>
        </p:nvSpPr>
        <p:spPr>
          <a:xfrm>
            <a:off x="640080" y="3246120"/>
            <a:ext cx="5330952" cy="1280160"/>
          </a:xfrm>
          <a:prstGeom prst="roundRect">
            <a:avLst>
              <a:gd fmla="val 5714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1"/>
          <p:cNvSpPr/>
          <p:nvPr/>
        </p:nvSpPr>
        <p:spPr>
          <a:xfrm>
            <a:off x="877824" y="3410712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6BE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34D6BE"/>
                </a:solidFill>
                <a:latin typeface="Consolas"/>
                <a:ea typeface="Consolas"/>
                <a:cs typeface="Consolas"/>
                <a:sym typeface="Consolas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1"/>
          <p:cNvSpPr/>
          <p:nvPr/>
        </p:nvSpPr>
        <p:spPr>
          <a:xfrm>
            <a:off x="1554480" y="3410712"/>
            <a:ext cx="4233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1450"/>
              <a:buFont typeface="Microsoft JhengHei"/>
              <a:buNone/>
            </a:pPr>
            <a:r>
              <a:rPr b="1" i="0" lang="en-US" sz="145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時區與運行確認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1"/>
          <p:cNvSpPr/>
          <p:nvPr/>
        </p:nvSpPr>
        <p:spPr>
          <a:xfrm>
            <a:off x="1554480" y="3794760"/>
            <a:ext cx="423367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150"/>
              <a:buFont typeface="Microsoft JhengHei"/>
              <a:buNone/>
            </a:pPr>
            <a:r>
              <a:rPr b="0" i="0" lang="en-US" sz="115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確認時區為台北時間。每天早上 7:00 ~ 8:00 間會自動發送 Brief 簡報至您的 Telegram。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1"/>
          <p:cNvSpPr/>
          <p:nvPr/>
        </p:nvSpPr>
        <p:spPr>
          <a:xfrm>
            <a:off x="6217920" y="3246120"/>
            <a:ext cx="5330952" cy="1280160"/>
          </a:xfrm>
          <a:prstGeom prst="roundRect">
            <a:avLst>
              <a:gd fmla="val 5714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1"/>
          <p:cNvSpPr/>
          <p:nvPr/>
        </p:nvSpPr>
        <p:spPr>
          <a:xfrm>
            <a:off x="6455664" y="3410712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6BE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34D6BE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1"/>
          <p:cNvSpPr/>
          <p:nvPr/>
        </p:nvSpPr>
        <p:spPr>
          <a:xfrm>
            <a:off x="7132320" y="3410712"/>
            <a:ext cx="4233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1450"/>
              <a:buFont typeface="Microsoft JhengHei"/>
              <a:buNone/>
            </a:pPr>
            <a:r>
              <a:rPr b="1" i="0" lang="en-US" sz="145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部署與維護手冊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1"/>
          <p:cNvSpPr/>
          <p:nvPr/>
        </p:nvSpPr>
        <p:spPr>
          <a:xfrm>
            <a:off x="7132320" y="3794760"/>
            <a:ext cx="423367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150"/>
              <a:buFont typeface="Microsoft JhengHei"/>
              <a:buNone/>
            </a:pPr>
            <a:r>
              <a:rPr b="0" i="0" lang="en-US" sz="115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完整詳細步驟已寫入「每日Brief自建部署與排程手冊.md」，為未來重灌或維護提供完美指引。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1"/>
          <p:cNvSpPr/>
          <p:nvPr/>
        </p:nvSpPr>
        <p:spPr>
          <a:xfrm>
            <a:off x="640080" y="4709160"/>
            <a:ext cx="5330952" cy="1280160"/>
          </a:xfrm>
          <a:prstGeom prst="roundRect">
            <a:avLst>
              <a:gd fmla="val 5714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1"/>
          <p:cNvSpPr/>
          <p:nvPr/>
        </p:nvSpPr>
        <p:spPr>
          <a:xfrm>
            <a:off x="877824" y="4873752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6BE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34D6BE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1"/>
          <p:cNvSpPr/>
          <p:nvPr/>
        </p:nvSpPr>
        <p:spPr>
          <a:xfrm>
            <a:off x="1554480" y="4873752"/>
            <a:ext cx="4233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1450"/>
              <a:buFont typeface="Microsoft JhengHei"/>
              <a:buNone/>
            </a:pPr>
            <a:r>
              <a:rPr b="1" i="0" lang="en-US" sz="145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/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1"/>
          <p:cNvSpPr/>
          <p:nvPr/>
        </p:nvSpPr>
        <p:spPr>
          <a:xfrm>
            <a:off x="1554480" y="5257800"/>
            <a:ext cx="423367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150"/>
              <a:buFont typeface="Microsoft JhengHei"/>
              <a:buNone/>
            </a:pPr>
            <a:r>
              <a:rPr b="0" i="0" lang="en-US" sz="115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1"/>
          <p:cNvSpPr/>
          <p:nvPr/>
        </p:nvSpPr>
        <p:spPr>
          <a:xfrm>
            <a:off x="6217920" y="4709160"/>
            <a:ext cx="5330952" cy="1280160"/>
          </a:xfrm>
          <a:prstGeom prst="roundRect">
            <a:avLst>
              <a:gd fmla="val 5714" name="adj"/>
            </a:avLst>
          </a:prstGeom>
          <a:solidFill>
            <a:srgbClr val="151A21"/>
          </a:solidFill>
          <a:ln cap="flat" cmpd="sng" w="12700">
            <a:solidFill>
              <a:srgbClr val="2A33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1"/>
          <p:cNvSpPr/>
          <p:nvPr/>
        </p:nvSpPr>
        <p:spPr>
          <a:xfrm>
            <a:off x="6455664" y="4873752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6BE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34D6BE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1"/>
          <p:cNvSpPr/>
          <p:nvPr/>
        </p:nvSpPr>
        <p:spPr>
          <a:xfrm>
            <a:off x="7132320" y="4873752"/>
            <a:ext cx="4233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CF2"/>
              </a:buClr>
              <a:buSzPts val="1450"/>
              <a:buFont typeface="Microsoft JhengHei"/>
              <a:buNone/>
            </a:pPr>
            <a:r>
              <a:rPr b="1" i="0" lang="en-US" sz="1450" u="none" cap="none" strike="noStrike">
                <a:solidFill>
                  <a:srgbClr val="E7EC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/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1"/>
          <p:cNvSpPr/>
          <p:nvPr/>
        </p:nvSpPr>
        <p:spPr>
          <a:xfrm>
            <a:off x="7132320" y="5257800"/>
            <a:ext cx="423367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9AA6B2"/>
              </a:buClr>
              <a:buSzPts val="1150"/>
              <a:buFont typeface="Microsoft JhengHei"/>
              <a:buNone/>
            </a:pPr>
            <a:r>
              <a:rPr b="0" i="0" lang="en-US" sz="1150" u="none" cap="none" strike="noStrike">
                <a:solidFill>
                  <a:srgbClr val="9AA6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1"/>
          <p:cNvSpPr/>
          <p:nvPr/>
        </p:nvSpPr>
        <p:spPr>
          <a:xfrm>
            <a:off x="0" y="6812280"/>
            <a:ext cx="11582110" cy="45720"/>
          </a:xfrm>
          <a:prstGeom prst="rect">
            <a:avLst/>
          </a:prstGeom>
          <a:solidFill>
            <a:srgbClr val="34D6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1"/>
          <p:cNvSpPr/>
          <p:nvPr/>
        </p:nvSpPr>
        <p:spPr>
          <a:xfrm>
            <a:off x="10607040" y="641908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E6975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E6975"/>
                </a:solidFill>
                <a:latin typeface="Consolas"/>
                <a:ea typeface="Consolas"/>
                <a:cs typeface="Consolas"/>
                <a:sym typeface="Consolas"/>
              </a:rPr>
              <a:t>20 / 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